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0" r:id="rId2"/>
    <p:sldMasterId id="2147483690" r:id="rId3"/>
  </p:sldMasterIdLst>
  <p:notesMasterIdLst>
    <p:notesMasterId r:id="rId14"/>
  </p:notesMasterIdLst>
  <p:sldIdLst>
    <p:sldId id="256" r:id="rId4"/>
    <p:sldId id="258" r:id="rId5"/>
    <p:sldId id="262" r:id="rId6"/>
    <p:sldId id="259" r:id="rId7"/>
    <p:sldId id="282" r:id="rId8"/>
    <p:sldId id="284" r:id="rId9"/>
    <p:sldId id="283" r:id="rId10"/>
    <p:sldId id="281" r:id="rId11"/>
    <p:sldId id="267" r:id="rId12"/>
    <p:sldId id="274" r:id="rId13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15"/>
    </p:embeddedFont>
    <p:embeddedFont>
      <p:font typeface="Arvo" panose="020B0604020202020204" charset="0"/>
      <p:regular r:id="rId16"/>
      <p:bold r:id="rId17"/>
      <p:italic r:id="rId18"/>
      <p:boldItalic r:id="rId19"/>
    </p:embeddedFont>
    <p:embeddedFont>
      <p:font typeface="Nunito" pitchFamily="2" charset="0"/>
      <p:regular r:id="rId20"/>
    </p:embeddedFont>
    <p:embeddedFont>
      <p:font typeface="Proxima Nova" panose="020B0604020202020204" charset="0"/>
      <p:regular r:id="rId21"/>
      <p:bold r:id="rId22"/>
      <p:italic r:id="rId23"/>
      <p:boldItalic r:id="rId24"/>
    </p:embeddedFont>
    <p:embeddedFont>
      <p:font typeface="Proxima Nova Semibold" panose="020B0604020202020204" charset="0"/>
      <p:regular r:id="rId25"/>
      <p:bold r:id="rId26"/>
      <p:boldItalic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g85TqMs6dLaYlDRbzzmaoBUafO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5BEFE7-33DA-43B2-85CF-B95843C8421B}">
  <a:tblStyle styleId="{2C5BEFE7-33DA-43B2-85CF-B95843C8421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274" autoAdjust="0"/>
  </p:normalViewPr>
  <p:slideViewPr>
    <p:cSldViewPr snapToGrid="0">
      <p:cViewPr varScale="1">
        <p:scale>
          <a:sx n="121" d="100"/>
          <a:sy n="121" d="100"/>
        </p:scale>
        <p:origin x="331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89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87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90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107B2584-5173-4335-4AEB-E7159B77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>
            <a:extLst>
              <a:ext uri="{FF2B5EF4-FFF2-40B4-BE49-F238E27FC236}">
                <a16:creationId xmlns:a16="http://schemas.microsoft.com/office/drawing/2014/main" id="{8542D53B-4791-4C11-2CAA-912824080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3:notes">
            <a:extLst>
              <a:ext uri="{FF2B5EF4-FFF2-40B4-BE49-F238E27FC236}">
                <a16:creationId xmlns:a16="http://schemas.microsoft.com/office/drawing/2014/main" id="{54A68530-17A8-933C-377A-633E6BA73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130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Evidencia en Lab/corpus: V1_relojes.txt, V3_V4_V6.txt, V5/ (inventario), E1_1.4_V7_integridad, V8_versiones.txt y E1_1.2_versiones_complemento. V2: win-victim no conecta (ver Lab/13_Hallazgos). V5: Suricata casi solo envía eventos stats.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E0CD46B4-FB69-46D4-9CA9-96C0A8D5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>
            <a:extLst>
              <a:ext uri="{FF2B5EF4-FFF2-40B4-BE49-F238E27FC236}">
                <a16:creationId xmlns:a16="http://schemas.microsoft.com/office/drawing/2014/main" id="{9718DEF8-1ED4-2F1B-BFEC-E0399745F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3:notes">
            <a:extLst>
              <a:ext uri="{FF2B5EF4-FFF2-40B4-BE49-F238E27FC236}">
                <a16:creationId xmlns:a16="http://schemas.microsoft.com/office/drawing/2014/main" id="{4C963DFF-4ED4-973F-7D3B-6D91997D1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8616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64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64"/>
          <p:cNvSpPr txBox="1">
            <a:spLocks noGrp="1"/>
          </p:cNvSpPr>
          <p:nvPr>
            <p:ph type="ctrTitle" idx="2"/>
          </p:nvPr>
        </p:nvSpPr>
        <p:spPr>
          <a:xfrm>
            <a:off x="1224900" y="2957137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pic>
        <p:nvPicPr>
          <p:cNvPr id="11" name="Google Shape;11;p64"/>
          <p:cNvPicPr preferRelativeResize="0"/>
          <p:nvPr/>
        </p:nvPicPr>
        <p:blipFill rotWithShape="1">
          <a:blip r:embed="rId2">
            <a:alphaModFix/>
          </a:blip>
          <a:srcRect r="34233"/>
          <a:stretch/>
        </p:blipFill>
        <p:spPr>
          <a:xfrm>
            <a:off x="90957" y="-1877"/>
            <a:ext cx="1684503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5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5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65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65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65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5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65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20" name="Google Shape;20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5"/>
          <p:cNvSpPr txBox="1"/>
          <p:nvPr/>
        </p:nvSpPr>
        <p:spPr>
          <a:xfrm>
            <a:off x="8604250" y="4908176"/>
            <a:ext cx="539750" cy="218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 2">
    <p:bg>
      <p:bgPr>
        <a:solidFill>
          <a:srgbClr val="FF3A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9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89"/>
          <p:cNvSpPr txBox="1">
            <a:spLocks noGrp="1"/>
          </p:cNvSpPr>
          <p:nvPr>
            <p:ph type="ctrTitle" idx="2"/>
          </p:nvPr>
        </p:nvSpPr>
        <p:spPr>
          <a:xfrm>
            <a:off x="1224900" y="2945026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pic>
        <p:nvPicPr>
          <p:cNvPr id="25" name="Google Shape;25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957" y="-1877"/>
            <a:ext cx="2561321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 3">
    <p:bg>
      <p:bgPr>
        <a:solidFill>
          <a:schemeClr val="dk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0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90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pic>
        <p:nvPicPr>
          <p:cNvPr id="29" name="Google Shape;29;p90"/>
          <p:cNvPicPr preferRelativeResize="0"/>
          <p:nvPr/>
        </p:nvPicPr>
        <p:blipFill rotWithShape="1">
          <a:blip r:embed="rId2">
            <a:alphaModFix/>
          </a:blip>
          <a:srcRect r="29893"/>
          <a:stretch/>
        </p:blipFill>
        <p:spPr>
          <a:xfrm>
            <a:off x="7100699" y="4321238"/>
            <a:ext cx="1795652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 4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1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91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2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pic>
        <p:nvPicPr>
          <p:cNvPr id="33" name="Google Shape;33;p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6348" y="4321238"/>
            <a:ext cx="2561321" cy="88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>
  <p:cSld name="1_Text slide with title 1">
    <p:bg>
      <p:bgPr>
        <a:solidFill>
          <a:srgbClr val="FF3A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2"/>
          <p:cNvSpPr txBox="1">
            <a:spLocks noGrp="1"/>
          </p:cNvSpPr>
          <p:nvPr>
            <p:ph type="title"/>
          </p:nvPr>
        </p:nvSpPr>
        <p:spPr>
          <a:xfrm>
            <a:off x="397325" y="104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2"/>
          <p:cNvSpPr txBox="1">
            <a:spLocks noGrp="1"/>
          </p:cNvSpPr>
          <p:nvPr>
            <p:ph type="body" idx="1"/>
          </p:nvPr>
        </p:nvSpPr>
        <p:spPr>
          <a:xfrm>
            <a:off x="397334" y="1628200"/>
            <a:ext cx="6147600" cy="1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37" name="Google Shape;37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3"/>
          <p:cNvPicPr preferRelativeResize="0"/>
          <p:nvPr/>
        </p:nvPicPr>
        <p:blipFill rotWithShape="1">
          <a:blip r:embed="rId2">
            <a:alphaModFix/>
          </a:blip>
          <a:srcRect l="10152" t="9801" r="613" b="14877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3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3"/>
          <p:cNvSpPr txBox="1">
            <a:spLocks noGrp="1"/>
          </p:cNvSpPr>
          <p:nvPr>
            <p:ph type="ctrTitle"/>
          </p:nvPr>
        </p:nvSpPr>
        <p:spPr>
          <a:xfrm>
            <a:off x="5336324" y="900355"/>
            <a:ext cx="25986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 b="1" i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3"/>
          <p:cNvSpPr txBox="1">
            <a:spLocks noGrp="1"/>
          </p:cNvSpPr>
          <p:nvPr>
            <p:ph type="subTitle" idx="1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3"/>
          <p:cNvSpPr/>
          <p:nvPr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wo columns" type="twoColTx">
  <p:cSld name="TITLE_AND_TWO_COLUMNS">
    <p:bg>
      <p:bgPr>
        <a:solidFill>
          <a:srgbClr val="FF3A0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4"/>
          <p:cNvSpPr txBox="1">
            <a:spLocks noGrp="1"/>
          </p:cNvSpPr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4"/>
          <p:cNvSpPr/>
          <p:nvPr/>
        </p:nvSpPr>
        <p:spPr>
          <a:xfrm>
            <a:off x="791700" y="4187374"/>
            <a:ext cx="290788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4"/>
          <p:cNvSpPr txBox="1">
            <a:spLocks noGrp="1"/>
          </p:cNvSpPr>
          <p:nvPr>
            <p:ph type="subTitle" idx="1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94"/>
          <p:cNvSpPr txBox="1">
            <a:spLocks noGrp="1"/>
          </p:cNvSpPr>
          <p:nvPr>
            <p:ph type="subTitle" idx="2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4"/>
          <p:cNvSpPr txBox="1">
            <a:spLocks noGrp="1"/>
          </p:cNvSpPr>
          <p:nvPr>
            <p:ph type="subTitle" idx="3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4"/>
          <p:cNvSpPr txBox="1">
            <a:spLocks noGrp="1"/>
          </p:cNvSpPr>
          <p:nvPr>
            <p:ph type="subTitle" idx="4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94"/>
          <p:cNvSpPr/>
          <p:nvPr/>
        </p:nvSpPr>
        <p:spPr>
          <a:xfrm>
            <a:off x="5040971" y="4187374"/>
            <a:ext cx="290788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>
  <p:cSld name="1_Slide with three columns">
    <p:bg>
      <p:bgPr>
        <a:solidFill>
          <a:srgbClr val="FF3A00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5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5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95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5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95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95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95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64" name="Google Shape;64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slide with big number">
  <p:cSld name="1_Red slide with big number">
    <p:bg>
      <p:bgPr>
        <a:solidFill>
          <a:schemeClr val="dk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6"/>
          <p:cNvSpPr txBox="1">
            <a:spLocks noGrp="1"/>
          </p:cNvSpPr>
          <p:nvPr>
            <p:ph type="title"/>
          </p:nvPr>
        </p:nvSpPr>
        <p:spPr>
          <a:xfrm>
            <a:off x="311700" y="12585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80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6"/>
          <p:cNvSpPr txBox="1">
            <a:spLocks noGrp="1"/>
          </p:cNvSpPr>
          <p:nvPr>
            <p:ph type="subTitle" idx="1"/>
          </p:nvPr>
        </p:nvSpPr>
        <p:spPr>
          <a:xfrm>
            <a:off x="1881147" y="3077100"/>
            <a:ext cx="53817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68" name="Google Shape;68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itle">
  <p:cSld name="1_Slide with 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7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pic>
        <p:nvPicPr>
          <p:cNvPr id="71" name="Google Shape;71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Main slide">
    <p:bg>
      <p:bgPr>
        <a:solidFill>
          <a:schemeClr val="dk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7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67"/>
          <p:cNvSpPr txBox="1">
            <a:spLocks noGrp="1"/>
          </p:cNvSpPr>
          <p:nvPr>
            <p:ph type="ctrTitle" idx="2"/>
          </p:nvPr>
        </p:nvSpPr>
        <p:spPr>
          <a:xfrm>
            <a:off x="1224900" y="2957137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pic>
        <p:nvPicPr>
          <p:cNvPr id="78" name="Google Shape;78;p67"/>
          <p:cNvPicPr preferRelativeResize="0"/>
          <p:nvPr/>
        </p:nvPicPr>
        <p:blipFill rotWithShape="1">
          <a:blip r:embed="rId2">
            <a:alphaModFix/>
          </a:blip>
          <a:srcRect r="30812"/>
          <a:stretch/>
        </p:blipFill>
        <p:spPr>
          <a:xfrm>
            <a:off x="90957" y="-1877"/>
            <a:ext cx="1772133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slide with text and title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8"/>
          <p:cNvSpPr txBox="1">
            <a:spLocks noGrp="1"/>
          </p:cNvSpPr>
          <p:nvPr>
            <p:ph type="ctrTitle"/>
          </p:nvPr>
        </p:nvSpPr>
        <p:spPr>
          <a:xfrm>
            <a:off x="581729" y="1049938"/>
            <a:ext cx="3396000" cy="15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4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" name="Google Shape;81;p68"/>
          <p:cNvSpPr txBox="1">
            <a:spLocks noGrp="1"/>
          </p:cNvSpPr>
          <p:nvPr>
            <p:ph type="subTitle" idx="1"/>
          </p:nvPr>
        </p:nvSpPr>
        <p:spPr>
          <a:xfrm>
            <a:off x="756179" y="3108475"/>
            <a:ext cx="3047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68"/>
          <p:cNvSpPr/>
          <p:nvPr/>
        </p:nvSpPr>
        <p:spPr>
          <a:xfrm>
            <a:off x="2196629" y="3746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8"/>
          <p:cNvSpPr/>
          <p:nvPr/>
        </p:nvSpPr>
        <p:spPr>
          <a:xfrm>
            <a:off x="2196629" y="3018575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69"/>
          <p:cNvPicPr preferRelativeResize="0"/>
          <p:nvPr/>
        </p:nvPicPr>
        <p:blipFill rotWithShape="1">
          <a:blip r:embed="rId2">
            <a:alphaModFix/>
          </a:blip>
          <a:srcRect l="10152" t="9801" r="613" b="14877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9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9"/>
          <p:cNvSpPr txBox="1">
            <a:spLocks noGrp="1"/>
          </p:cNvSpPr>
          <p:nvPr>
            <p:ph type="ctrTitle"/>
          </p:nvPr>
        </p:nvSpPr>
        <p:spPr>
          <a:xfrm>
            <a:off x="5336324" y="900355"/>
            <a:ext cx="2598600" cy="99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 b="1" i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69"/>
          <p:cNvSpPr txBox="1">
            <a:spLocks noGrp="1"/>
          </p:cNvSpPr>
          <p:nvPr>
            <p:ph type="subTitle" idx="1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69"/>
          <p:cNvSpPr/>
          <p:nvPr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ext and quote">
  <p:cSld name="Slide with text and quot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2"/>
          <p:cNvSpPr txBox="1">
            <a:spLocks noGrp="1"/>
          </p:cNvSpPr>
          <p:nvPr>
            <p:ph type="title"/>
          </p:nvPr>
        </p:nvSpPr>
        <p:spPr>
          <a:xfrm>
            <a:off x="429581" y="2871343"/>
            <a:ext cx="3658800" cy="13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72"/>
          <p:cNvSpPr txBox="1">
            <a:spLocks noGrp="1"/>
          </p:cNvSpPr>
          <p:nvPr>
            <p:ph type="title" idx="2"/>
          </p:nvPr>
        </p:nvSpPr>
        <p:spPr>
          <a:xfrm>
            <a:off x="5010425" y="427975"/>
            <a:ext cx="3788400" cy="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72"/>
          <p:cNvSpPr txBox="1">
            <a:spLocks noGrp="1"/>
          </p:cNvSpPr>
          <p:nvPr>
            <p:ph type="subTitle" idx="1"/>
          </p:nvPr>
        </p:nvSpPr>
        <p:spPr>
          <a:xfrm>
            <a:off x="5010425" y="1422175"/>
            <a:ext cx="3722400" cy="13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72"/>
          <p:cNvSpPr txBox="1">
            <a:spLocks noGrp="1"/>
          </p:cNvSpPr>
          <p:nvPr>
            <p:ph type="subTitle" idx="3"/>
          </p:nvPr>
        </p:nvSpPr>
        <p:spPr>
          <a:xfrm>
            <a:off x="5010425" y="2846806"/>
            <a:ext cx="3722400" cy="13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05" name="Google Shape;105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wo columns" type="twoColTx">
  <p:cSld name="TITLE_AND_TWO_COLUMN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3"/>
          <p:cNvSpPr txBox="1">
            <a:spLocks noGrp="1"/>
          </p:cNvSpPr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6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73"/>
          <p:cNvSpPr txBox="1">
            <a:spLocks noGrp="1"/>
          </p:cNvSpPr>
          <p:nvPr>
            <p:ph type="subTitle" idx="1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73"/>
          <p:cNvSpPr txBox="1">
            <a:spLocks noGrp="1"/>
          </p:cNvSpPr>
          <p:nvPr>
            <p:ph type="subTitle" idx="2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3"/>
          <p:cNvSpPr txBox="1">
            <a:spLocks noGrp="1"/>
          </p:cNvSpPr>
          <p:nvPr>
            <p:ph type="subTitle" idx="3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73"/>
          <p:cNvSpPr txBox="1">
            <a:spLocks noGrp="1"/>
          </p:cNvSpPr>
          <p:nvPr>
            <p:ph type="subTitle" idx="4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12" name="Google Shape;112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six columns">
  <p:cSld name="Slide with six column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5"/>
          <p:cNvSpPr txBox="1">
            <a:spLocks noGrp="1"/>
          </p:cNvSpPr>
          <p:nvPr>
            <p:ph type="title"/>
          </p:nvPr>
        </p:nvSpPr>
        <p:spPr>
          <a:xfrm>
            <a:off x="-510875" y="762500"/>
            <a:ext cx="10165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75"/>
          <p:cNvSpPr txBox="1">
            <a:spLocks noGrp="1"/>
          </p:cNvSpPr>
          <p:nvPr>
            <p:ph type="subTitle" idx="1"/>
          </p:nvPr>
        </p:nvSpPr>
        <p:spPr>
          <a:xfrm>
            <a:off x="575640" y="1833888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9pPr>
          </a:lstStyle>
          <a:p>
            <a:endParaRPr/>
          </a:p>
        </p:txBody>
      </p:sp>
      <p:sp>
        <p:nvSpPr>
          <p:cNvPr id="125" name="Google Shape;125;p75"/>
          <p:cNvSpPr txBox="1">
            <a:spLocks noGrp="1"/>
          </p:cNvSpPr>
          <p:nvPr>
            <p:ph type="subTitle" idx="2"/>
          </p:nvPr>
        </p:nvSpPr>
        <p:spPr>
          <a:xfrm>
            <a:off x="575650" y="2170145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75"/>
          <p:cNvSpPr txBox="1">
            <a:spLocks noGrp="1"/>
          </p:cNvSpPr>
          <p:nvPr>
            <p:ph type="subTitle" idx="3"/>
          </p:nvPr>
        </p:nvSpPr>
        <p:spPr>
          <a:xfrm>
            <a:off x="3355575" y="1833888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75"/>
          <p:cNvSpPr txBox="1">
            <a:spLocks noGrp="1"/>
          </p:cNvSpPr>
          <p:nvPr>
            <p:ph type="subTitle" idx="4"/>
          </p:nvPr>
        </p:nvSpPr>
        <p:spPr>
          <a:xfrm>
            <a:off x="3355577" y="2170145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75"/>
          <p:cNvSpPr txBox="1">
            <a:spLocks noGrp="1"/>
          </p:cNvSpPr>
          <p:nvPr>
            <p:ph type="subTitle" idx="5"/>
          </p:nvPr>
        </p:nvSpPr>
        <p:spPr>
          <a:xfrm>
            <a:off x="6119761" y="1833888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9pPr>
          </a:lstStyle>
          <a:p>
            <a:endParaRPr/>
          </a:p>
        </p:txBody>
      </p:sp>
      <p:sp>
        <p:nvSpPr>
          <p:cNvPr id="129" name="Google Shape;129;p75"/>
          <p:cNvSpPr txBox="1">
            <a:spLocks noGrp="1"/>
          </p:cNvSpPr>
          <p:nvPr>
            <p:ph type="subTitle" idx="6"/>
          </p:nvPr>
        </p:nvSpPr>
        <p:spPr>
          <a:xfrm>
            <a:off x="6119756" y="2170145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75"/>
          <p:cNvSpPr txBox="1">
            <a:spLocks noGrp="1"/>
          </p:cNvSpPr>
          <p:nvPr>
            <p:ph type="subTitle" idx="7"/>
          </p:nvPr>
        </p:nvSpPr>
        <p:spPr>
          <a:xfrm>
            <a:off x="575640" y="3144463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75"/>
          <p:cNvSpPr txBox="1">
            <a:spLocks noGrp="1"/>
          </p:cNvSpPr>
          <p:nvPr>
            <p:ph type="subTitle" idx="8"/>
          </p:nvPr>
        </p:nvSpPr>
        <p:spPr>
          <a:xfrm>
            <a:off x="575650" y="3480720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75"/>
          <p:cNvSpPr txBox="1">
            <a:spLocks noGrp="1"/>
          </p:cNvSpPr>
          <p:nvPr>
            <p:ph type="subTitle" idx="9"/>
          </p:nvPr>
        </p:nvSpPr>
        <p:spPr>
          <a:xfrm>
            <a:off x="3355575" y="3144463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9pPr>
          </a:lstStyle>
          <a:p>
            <a:endParaRPr/>
          </a:p>
        </p:txBody>
      </p:sp>
      <p:sp>
        <p:nvSpPr>
          <p:cNvPr id="133" name="Google Shape;133;p75"/>
          <p:cNvSpPr txBox="1">
            <a:spLocks noGrp="1"/>
          </p:cNvSpPr>
          <p:nvPr>
            <p:ph type="subTitle" idx="13"/>
          </p:nvPr>
        </p:nvSpPr>
        <p:spPr>
          <a:xfrm>
            <a:off x="3355577" y="3480720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75"/>
          <p:cNvSpPr txBox="1">
            <a:spLocks noGrp="1"/>
          </p:cNvSpPr>
          <p:nvPr>
            <p:ph type="subTitle" idx="14"/>
          </p:nvPr>
        </p:nvSpPr>
        <p:spPr>
          <a:xfrm>
            <a:off x="6119761" y="3144463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75"/>
          <p:cNvSpPr txBox="1">
            <a:spLocks noGrp="1"/>
          </p:cNvSpPr>
          <p:nvPr>
            <p:ph type="subTitle" idx="15"/>
          </p:nvPr>
        </p:nvSpPr>
        <p:spPr>
          <a:xfrm>
            <a:off x="6119756" y="3480720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6"/>
          <p:cNvSpPr/>
          <p:nvPr/>
        </p:nvSpPr>
        <p:spPr>
          <a:xfrm>
            <a:off x="5305775" y="415603"/>
            <a:ext cx="3451800" cy="4348596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6"/>
          <p:cNvSpPr txBox="1">
            <a:spLocks noGrp="1"/>
          </p:cNvSpPr>
          <p:nvPr>
            <p:ph type="ctrTitle"/>
          </p:nvPr>
        </p:nvSpPr>
        <p:spPr>
          <a:xfrm>
            <a:off x="5739850" y="764829"/>
            <a:ext cx="2598600" cy="855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000" b="1" i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139" name="Google Shape;139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ext and title">
  <p:cSld name="Slide with text and title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8"/>
          <p:cNvSpPr txBox="1">
            <a:spLocks noGrp="1"/>
          </p:cNvSpPr>
          <p:nvPr>
            <p:ph type="title"/>
          </p:nvPr>
        </p:nvSpPr>
        <p:spPr>
          <a:xfrm>
            <a:off x="436100" y="711175"/>
            <a:ext cx="8099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pic>
        <p:nvPicPr>
          <p:cNvPr id="147" name="Google Shape;147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itle">
  <p:cSld name="Slide with title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pic>
        <p:nvPicPr>
          <p:cNvPr id="150" name="Google Shape;150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six columns and gray title">
  <p:cSld name="Slide with six columns and gray 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1"/>
          <p:cNvSpPr txBox="1">
            <a:spLocks noGrp="1"/>
          </p:cNvSpPr>
          <p:nvPr>
            <p:ph type="title"/>
          </p:nvPr>
        </p:nvSpPr>
        <p:spPr>
          <a:xfrm>
            <a:off x="208200" y="249225"/>
            <a:ext cx="3560236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16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81"/>
          <p:cNvSpPr txBox="1">
            <a:spLocks noGrp="1"/>
          </p:cNvSpPr>
          <p:nvPr>
            <p:ph type="subTitle" idx="1"/>
          </p:nvPr>
        </p:nvSpPr>
        <p:spPr>
          <a:xfrm>
            <a:off x="1015950" y="1895775"/>
            <a:ext cx="1815361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81"/>
          <p:cNvSpPr txBox="1">
            <a:spLocks noGrp="1"/>
          </p:cNvSpPr>
          <p:nvPr>
            <p:ph type="subTitle" idx="2"/>
          </p:nvPr>
        </p:nvSpPr>
        <p:spPr>
          <a:xfrm>
            <a:off x="1015950" y="2431473"/>
            <a:ext cx="1807800" cy="78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81"/>
          <p:cNvSpPr txBox="1">
            <a:spLocks noGrp="1"/>
          </p:cNvSpPr>
          <p:nvPr>
            <p:ph type="subTitle" idx="3"/>
          </p:nvPr>
        </p:nvSpPr>
        <p:spPr>
          <a:xfrm>
            <a:off x="3482250" y="1895775"/>
            <a:ext cx="2066495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9pPr>
          </a:lstStyle>
          <a:p>
            <a:endParaRPr/>
          </a:p>
        </p:txBody>
      </p:sp>
      <p:sp>
        <p:nvSpPr>
          <p:cNvPr id="164" name="Google Shape;164;p81"/>
          <p:cNvSpPr txBox="1">
            <a:spLocks noGrp="1"/>
          </p:cNvSpPr>
          <p:nvPr>
            <p:ph type="subTitle" idx="4"/>
          </p:nvPr>
        </p:nvSpPr>
        <p:spPr>
          <a:xfrm>
            <a:off x="3482250" y="2431473"/>
            <a:ext cx="1807800" cy="78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81"/>
          <p:cNvSpPr txBox="1">
            <a:spLocks noGrp="1"/>
          </p:cNvSpPr>
          <p:nvPr>
            <p:ph type="subTitle" idx="5"/>
          </p:nvPr>
        </p:nvSpPr>
        <p:spPr>
          <a:xfrm>
            <a:off x="1015950" y="3289825"/>
            <a:ext cx="1815361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/>
            </a:lvl9pPr>
          </a:lstStyle>
          <a:p>
            <a:endParaRPr/>
          </a:p>
        </p:txBody>
      </p:sp>
      <p:sp>
        <p:nvSpPr>
          <p:cNvPr id="166" name="Google Shape;166;p81"/>
          <p:cNvSpPr txBox="1">
            <a:spLocks noGrp="1"/>
          </p:cNvSpPr>
          <p:nvPr>
            <p:ph type="subTitle" idx="6"/>
          </p:nvPr>
        </p:nvSpPr>
        <p:spPr>
          <a:xfrm>
            <a:off x="1015950" y="3825523"/>
            <a:ext cx="1807800" cy="78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81"/>
          <p:cNvSpPr txBox="1">
            <a:spLocks noGrp="1"/>
          </p:cNvSpPr>
          <p:nvPr>
            <p:ph type="subTitle" idx="7"/>
          </p:nvPr>
        </p:nvSpPr>
        <p:spPr>
          <a:xfrm>
            <a:off x="3482250" y="3289825"/>
            <a:ext cx="2066495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1"/>
          <p:cNvSpPr txBox="1"/>
          <p:nvPr/>
        </p:nvSpPr>
        <p:spPr>
          <a:xfrm>
            <a:off x="3475132" y="3825523"/>
            <a:ext cx="1807800" cy="78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None/>
            </a:pPr>
            <a:endParaRPr sz="12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9" name="Google Shape;169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slide with four columns">
  <p:cSld name="Gray slide with four column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3"/>
          <p:cNvSpPr/>
          <p:nvPr/>
        </p:nvSpPr>
        <p:spPr>
          <a:xfrm>
            <a:off x="0" y="-13675"/>
            <a:ext cx="2286000" cy="5161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3"/>
          <p:cNvSpPr/>
          <p:nvPr/>
        </p:nvSpPr>
        <p:spPr>
          <a:xfrm>
            <a:off x="2285991" y="-13675"/>
            <a:ext cx="2286000" cy="5161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3"/>
          <p:cNvSpPr/>
          <p:nvPr/>
        </p:nvSpPr>
        <p:spPr>
          <a:xfrm>
            <a:off x="4571983" y="-4625"/>
            <a:ext cx="2286000" cy="5161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3"/>
          <p:cNvSpPr/>
          <p:nvPr/>
        </p:nvSpPr>
        <p:spPr>
          <a:xfrm>
            <a:off x="6857974" y="-4625"/>
            <a:ext cx="2286000" cy="5161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3"/>
          <p:cNvSpPr txBox="1">
            <a:spLocks noGrp="1"/>
          </p:cNvSpPr>
          <p:nvPr>
            <p:ph type="subTitle" idx="1"/>
          </p:nvPr>
        </p:nvSpPr>
        <p:spPr>
          <a:xfrm>
            <a:off x="114000" y="1880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 b="1"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800" b="1"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 b="1"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1"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83"/>
          <p:cNvSpPr txBox="1">
            <a:spLocks noGrp="1"/>
          </p:cNvSpPr>
          <p:nvPr>
            <p:ph type="subTitle" idx="2"/>
          </p:nvPr>
        </p:nvSpPr>
        <p:spPr>
          <a:xfrm>
            <a:off x="114000" y="2987150"/>
            <a:ext cx="19629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83"/>
          <p:cNvSpPr/>
          <p:nvPr/>
        </p:nvSpPr>
        <p:spPr>
          <a:xfrm rot="10800000" flipH="1">
            <a:off x="1024568" y="2813640"/>
            <a:ext cx="236864" cy="4572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3"/>
          <p:cNvSpPr/>
          <p:nvPr/>
        </p:nvSpPr>
        <p:spPr>
          <a:xfrm rot="10800000" flipH="1">
            <a:off x="3310543" y="2813640"/>
            <a:ext cx="236864" cy="4572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3"/>
          <p:cNvSpPr/>
          <p:nvPr/>
        </p:nvSpPr>
        <p:spPr>
          <a:xfrm rot="10800000" flipH="1">
            <a:off x="5596518" y="2813640"/>
            <a:ext cx="236864" cy="4572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3"/>
          <p:cNvSpPr/>
          <p:nvPr/>
        </p:nvSpPr>
        <p:spPr>
          <a:xfrm rot="10800000" flipH="1">
            <a:off x="7882568" y="2848590"/>
            <a:ext cx="236864" cy="4572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3"/>
          <p:cNvSpPr txBox="1">
            <a:spLocks noGrp="1"/>
          </p:cNvSpPr>
          <p:nvPr>
            <p:ph type="subTitle" idx="3"/>
          </p:nvPr>
        </p:nvSpPr>
        <p:spPr>
          <a:xfrm>
            <a:off x="2399988" y="1880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 b="1"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800" b="1"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 b="1"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1"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83"/>
          <p:cNvSpPr txBox="1">
            <a:spLocks noGrp="1"/>
          </p:cNvSpPr>
          <p:nvPr>
            <p:ph type="subTitle" idx="4"/>
          </p:nvPr>
        </p:nvSpPr>
        <p:spPr>
          <a:xfrm>
            <a:off x="2399988" y="2987150"/>
            <a:ext cx="19629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83"/>
          <p:cNvSpPr txBox="1">
            <a:spLocks noGrp="1"/>
          </p:cNvSpPr>
          <p:nvPr>
            <p:ph type="subTitle" idx="5"/>
          </p:nvPr>
        </p:nvSpPr>
        <p:spPr>
          <a:xfrm>
            <a:off x="4685975" y="1880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 b="1"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800" b="1"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 b="1"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1"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83"/>
          <p:cNvSpPr txBox="1">
            <a:spLocks noGrp="1"/>
          </p:cNvSpPr>
          <p:nvPr>
            <p:ph type="subTitle" idx="6"/>
          </p:nvPr>
        </p:nvSpPr>
        <p:spPr>
          <a:xfrm>
            <a:off x="4685975" y="2987150"/>
            <a:ext cx="19629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83"/>
          <p:cNvSpPr txBox="1">
            <a:spLocks noGrp="1"/>
          </p:cNvSpPr>
          <p:nvPr>
            <p:ph type="subTitle" idx="7"/>
          </p:nvPr>
        </p:nvSpPr>
        <p:spPr>
          <a:xfrm>
            <a:off x="6971950" y="1880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 b="1"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800" b="1"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 b="1"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1"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83"/>
          <p:cNvSpPr txBox="1">
            <a:spLocks noGrp="1"/>
          </p:cNvSpPr>
          <p:nvPr>
            <p:ph type="subTitle" idx="8"/>
          </p:nvPr>
        </p:nvSpPr>
        <p:spPr>
          <a:xfrm>
            <a:off x="6971950" y="2987150"/>
            <a:ext cx="19629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200" name="Google Shape;200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slide with two columns">
  <p:cSld name="White slide with two column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4"/>
          <p:cNvSpPr txBox="1">
            <a:spLocks noGrp="1"/>
          </p:cNvSpPr>
          <p:nvPr>
            <p:ph type="title"/>
          </p:nvPr>
        </p:nvSpPr>
        <p:spPr>
          <a:xfrm>
            <a:off x="706200" y="2807225"/>
            <a:ext cx="362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84"/>
          <p:cNvSpPr txBox="1">
            <a:spLocks noGrp="1"/>
          </p:cNvSpPr>
          <p:nvPr>
            <p:ph type="title" idx="2"/>
          </p:nvPr>
        </p:nvSpPr>
        <p:spPr>
          <a:xfrm>
            <a:off x="4808275" y="2807225"/>
            <a:ext cx="362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84"/>
          <p:cNvSpPr txBox="1">
            <a:spLocks noGrp="1"/>
          </p:cNvSpPr>
          <p:nvPr>
            <p:ph type="subTitle" idx="1"/>
          </p:nvPr>
        </p:nvSpPr>
        <p:spPr>
          <a:xfrm>
            <a:off x="768750" y="3414125"/>
            <a:ext cx="35043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p84"/>
          <p:cNvSpPr txBox="1">
            <a:spLocks noGrp="1"/>
          </p:cNvSpPr>
          <p:nvPr>
            <p:ph type="subTitle" idx="3"/>
          </p:nvPr>
        </p:nvSpPr>
        <p:spPr>
          <a:xfrm>
            <a:off x="4870825" y="3414125"/>
            <a:ext cx="35043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206" name="Google Shape;206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ext and title 1">
  <p:cSld name="Slide with text and title 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5"/>
          <p:cNvSpPr txBox="1">
            <a:spLocks noGrp="1"/>
          </p:cNvSpPr>
          <p:nvPr>
            <p:ph type="subTitle" idx="1"/>
          </p:nvPr>
        </p:nvSpPr>
        <p:spPr>
          <a:xfrm>
            <a:off x="798800" y="2248125"/>
            <a:ext cx="31395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85"/>
          <p:cNvSpPr txBox="1">
            <a:spLocks noGrp="1"/>
          </p:cNvSpPr>
          <p:nvPr>
            <p:ph type="title"/>
          </p:nvPr>
        </p:nvSpPr>
        <p:spPr>
          <a:xfrm>
            <a:off x="798800" y="1583075"/>
            <a:ext cx="342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pic>
        <p:nvPicPr>
          <p:cNvPr id="210" name="Google Shape;210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red title">
  <p:cSld name="Text slide with red titl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6"/>
          <p:cNvSpPr txBox="1">
            <a:spLocks noGrp="1"/>
          </p:cNvSpPr>
          <p:nvPr>
            <p:ph type="subTitle" idx="1"/>
          </p:nvPr>
        </p:nvSpPr>
        <p:spPr>
          <a:xfrm>
            <a:off x="798800" y="2248125"/>
            <a:ext cx="31395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86"/>
          <p:cNvSpPr txBox="1">
            <a:spLocks noGrp="1"/>
          </p:cNvSpPr>
          <p:nvPr>
            <p:ph type="title"/>
          </p:nvPr>
        </p:nvSpPr>
        <p:spPr>
          <a:xfrm>
            <a:off x="798800" y="1583075"/>
            <a:ext cx="342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pic>
        <p:nvPicPr>
          <p:cNvPr id="214" name="Google Shape;214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">
    <p:bg>
      <p:bgPr>
        <a:solidFill>
          <a:srgbClr val="FF3A00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8"/>
          <p:cNvSpPr txBox="1">
            <a:spLocks noGrp="1"/>
          </p:cNvSpPr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98"/>
          <p:cNvSpPr txBox="1">
            <a:spLocks noGrp="1"/>
          </p:cNvSpPr>
          <p:nvPr>
            <p:ph type="ctrTitle" idx="2"/>
          </p:nvPr>
        </p:nvSpPr>
        <p:spPr>
          <a:xfrm>
            <a:off x="1224900" y="2945026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pic>
        <p:nvPicPr>
          <p:cNvPr id="218" name="Google Shape;218;p98"/>
          <p:cNvPicPr preferRelativeResize="0"/>
          <p:nvPr/>
        </p:nvPicPr>
        <p:blipFill rotWithShape="1">
          <a:blip r:embed="rId2">
            <a:alphaModFix/>
          </a:blip>
          <a:srcRect r="32597"/>
          <a:stretch/>
        </p:blipFill>
        <p:spPr>
          <a:xfrm>
            <a:off x="90957" y="-1877"/>
            <a:ext cx="1726413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 2">
    <p:bg>
      <p:bgPr>
        <a:solidFill>
          <a:schemeClr val="dk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9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99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4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pic>
        <p:nvPicPr>
          <p:cNvPr id="222" name="Google Shape;222;p99"/>
          <p:cNvPicPr preferRelativeResize="0"/>
          <p:nvPr/>
        </p:nvPicPr>
        <p:blipFill rotWithShape="1">
          <a:blip r:embed="rId2">
            <a:alphaModFix/>
          </a:blip>
          <a:srcRect r="28704"/>
          <a:stretch/>
        </p:blipFill>
        <p:spPr>
          <a:xfrm>
            <a:off x="7317868" y="4321238"/>
            <a:ext cx="1826132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1_Main slide 3">
    <p:bg>
      <p:bgPr>
        <a:solidFill>
          <a:schemeClr val="lt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0"/>
          <p:cNvSpPr txBox="1">
            <a:spLocks noGrp="1"/>
          </p:cNvSpPr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100"/>
          <p:cNvSpPr txBox="1">
            <a:spLocks noGrp="1"/>
          </p:cNvSpPr>
          <p:nvPr>
            <p:ph type="ctrTitle" idx="2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20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>
            <a:endParaRPr/>
          </a:p>
        </p:txBody>
      </p:sp>
      <p:pic>
        <p:nvPicPr>
          <p:cNvPr id="226" name="Google Shape;226;p100"/>
          <p:cNvPicPr preferRelativeResize="0"/>
          <p:nvPr/>
        </p:nvPicPr>
        <p:blipFill rotWithShape="1">
          <a:blip r:embed="rId2">
            <a:alphaModFix/>
          </a:blip>
          <a:srcRect r="32720"/>
          <a:stretch/>
        </p:blipFill>
        <p:spPr>
          <a:xfrm>
            <a:off x="7420738" y="4423912"/>
            <a:ext cx="1723262" cy="88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>
  <p:cSld name="1_Text slide with title 1">
    <p:bg>
      <p:bgPr>
        <a:solidFill>
          <a:srgbClr val="FF3A0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1"/>
          <p:cNvSpPr txBox="1">
            <a:spLocks noGrp="1"/>
          </p:cNvSpPr>
          <p:nvPr>
            <p:ph type="title"/>
          </p:nvPr>
        </p:nvSpPr>
        <p:spPr>
          <a:xfrm>
            <a:off x="397325" y="104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01"/>
          <p:cNvSpPr txBox="1">
            <a:spLocks noGrp="1"/>
          </p:cNvSpPr>
          <p:nvPr>
            <p:ph type="body" idx="1"/>
          </p:nvPr>
        </p:nvSpPr>
        <p:spPr>
          <a:xfrm>
            <a:off x="397334" y="1628200"/>
            <a:ext cx="6147600" cy="1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230" name="Google Shape;230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1_Title and Subtitle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102"/>
          <p:cNvPicPr preferRelativeResize="0"/>
          <p:nvPr/>
        </p:nvPicPr>
        <p:blipFill rotWithShape="1">
          <a:blip r:embed="rId2">
            <a:alphaModFix/>
          </a:blip>
          <a:srcRect l="10152" t="9801" r="613" b="14877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2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2"/>
          <p:cNvSpPr txBox="1">
            <a:spLocks noGrp="1"/>
          </p:cNvSpPr>
          <p:nvPr>
            <p:ph type="ctrTitle"/>
          </p:nvPr>
        </p:nvSpPr>
        <p:spPr>
          <a:xfrm>
            <a:off x="5336324" y="900355"/>
            <a:ext cx="25986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 b="1" i="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02"/>
          <p:cNvSpPr txBox="1">
            <a:spLocks noGrp="1"/>
          </p:cNvSpPr>
          <p:nvPr>
            <p:ph type="subTitle" idx="1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02"/>
          <p:cNvSpPr/>
          <p:nvPr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wo columns">
  <p:cSld name="1_Slide with two columns">
    <p:bg>
      <p:bgPr>
        <a:solidFill>
          <a:srgbClr val="FF3A00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3"/>
          <p:cNvSpPr txBox="1">
            <a:spLocks noGrp="1"/>
          </p:cNvSpPr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sz="18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03"/>
          <p:cNvSpPr/>
          <p:nvPr/>
        </p:nvSpPr>
        <p:spPr>
          <a:xfrm>
            <a:off x="791700" y="4187374"/>
            <a:ext cx="290788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3"/>
          <p:cNvSpPr txBox="1">
            <a:spLocks noGrp="1"/>
          </p:cNvSpPr>
          <p:nvPr>
            <p:ph type="subTitle" idx="1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103"/>
          <p:cNvSpPr txBox="1">
            <a:spLocks noGrp="1"/>
          </p:cNvSpPr>
          <p:nvPr>
            <p:ph type="subTitle" idx="2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44" name="Google Shape;244;p103"/>
          <p:cNvSpPr txBox="1">
            <a:spLocks noGrp="1"/>
          </p:cNvSpPr>
          <p:nvPr>
            <p:ph type="subTitle" idx="3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103"/>
          <p:cNvSpPr txBox="1">
            <a:spLocks noGrp="1"/>
          </p:cNvSpPr>
          <p:nvPr>
            <p:ph type="subTitle" idx="4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103"/>
          <p:cNvSpPr/>
          <p:nvPr/>
        </p:nvSpPr>
        <p:spPr>
          <a:xfrm>
            <a:off x="5040971" y="4187374"/>
            <a:ext cx="290788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hree columns">
  <p:cSld name="1_Slide with three columns">
    <p:bg>
      <p:bgPr>
        <a:solidFill>
          <a:srgbClr val="FF3A00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4"/>
          <p:cNvSpPr txBox="1">
            <a:spLocks noGrp="1"/>
          </p:cNvSpPr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18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104"/>
          <p:cNvSpPr txBox="1">
            <a:spLocks noGrp="1"/>
          </p:cNvSpPr>
          <p:nvPr>
            <p:ph type="subTitle" idx="1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104"/>
          <p:cNvSpPr txBox="1">
            <a:spLocks noGrp="1"/>
          </p:cNvSpPr>
          <p:nvPr>
            <p:ph type="subTitle" idx="2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04"/>
          <p:cNvSpPr txBox="1">
            <a:spLocks noGrp="1"/>
          </p:cNvSpPr>
          <p:nvPr>
            <p:ph type="subTitle" idx="3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104"/>
          <p:cNvSpPr txBox="1">
            <a:spLocks noGrp="1"/>
          </p:cNvSpPr>
          <p:nvPr>
            <p:ph type="subTitle" idx="4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104"/>
          <p:cNvSpPr txBox="1">
            <a:spLocks noGrp="1"/>
          </p:cNvSpPr>
          <p:nvPr>
            <p:ph type="subTitle" idx="5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 b="1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 b="1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b="1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 b="1"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104"/>
          <p:cNvSpPr txBox="1">
            <a:spLocks noGrp="1"/>
          </p:cNvSpPr>
          <p:nvPr>
            <p:ph type="subTitle" idx="6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257" name="Google Shape;25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slide with big number">
  <p:cSld name="1_Red slide with big number">
    <p:bg>
      <p:bgPr>
        <a:solidFill>
          <a:schemeClr val="dk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5"/>
          <p:cNvSpPr txBox="1">
            <a:spLocks noGrp="1"/>
          </p:cNvSpPr>
          <p:nvPr>
            <p:ph type="title"/>
          </p:nvPr>
        </p:nvSpPr>
        <p:spPr>
          <a:xfrm>
            <a:off x="311700" y="12585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8000"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05"/>
          <p:cNvSpPr txBox="1">
            <a:spLocks noGrp="1"/>
          </p:cNvSpPr>
          <p:nvPr>
            <p:ph type="subTitle" idx="1"/>
          </p:nvPr>
        </p:nvSpPr>
        <p:spPr>
          <a:xfrm>
            <a:off x="1881147" y="3077100"/>
            <a:ext cx="53817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 b="0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261" name="Google Shape;261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title">
  <p:cSld name="1_Slide with title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6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1" i="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>
            <a:endParaRPr/>
          </a:p>
        </p:txBody>
      </p:sp>
      <p:pic>
        <p:nvPicPr>
          <p:cNvPr id="264" name="Google Shape;264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63"/>
          <p:cNvSpPr txBox="1">
            <a:spLocks noGrp="1"/>
          </p:cNvSpPr>
          <p:nvPr>
            <p:ph type="body" idx="1"/>
          </p:nvPr>
        </p:nvSpPr>
        <p:spPr>
          <a:xfrm>
            <a:off x="311700" y="1609675"/>
            <a:ext cx="8520600" cy="20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Char char="●"/>
              <a:defRPr sz="16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"/>
              <a:buChar char="○"/>
              <a:defRPr sz="12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●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■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sz="2800" b="0" i="0" u="none" strike="noStrike" cap="non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4" name="Google Shape;74;p66"/>
          <p:cNvSpPr txBox="1">
            <a:spLocks noGrp="1"/>
          </p:cNvSpPr>
          <p:nvPr>
            <p:ph type="body" idx="1"/>
          </p:nvPr>
        </p:nvSpPr>
        <p:spPr>
          <a:xfrm>
            <a:off x="311700" y="1609675"/>
            <a:ext cx="8520600" cy="20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Char char="●"/>
              <a:defRPr sz="16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○"/>
              <a:defRPr sz="15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"/>
              <a:buChar char="●"/>
              <a:defRPr sz="13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"/>
              <a:buChar char="○"/>
              <a:defRPr sz="12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"/>
              <a:buChar char="■"/>
              <a:defRPr sz="11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●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■"/>
              <a:defRPr sz="1000" b="0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69" r:id="rId6"/>
    <p:sldLayoutId id="2147483670" r:id="rId7"/>
    <p:sldLayoutId id="2147483672" r:id="rId8"/>
    <p:sldLayoutId id="2147483673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7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67" name="Google Shape;267;p87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68" name="Google Shape;268;p87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"/>
          <p:cNvSpPr txBox="1">
            <a:spLocks noGrp="1"/>
          </p:cNvSpPr>
          <p:nvPr>
            <p:ph type="ctrTitle"/>
          </p:nvPr>
        </p:nvSpPr>
        <p:spPr>
          <a:xfrm>
            <a:off x="1224823" y="1709165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s" sz="1800" dirty="0"/>
              <a:t>INTEGRACIÓN DE HERRAMIENTAS ABIERTAS Y PROPIETARIAS PARA LA IMPLEMENTACIÓN DE LA CAPACIDAD DE DETECCIÓN Y RESPUESTA </a:t>
            </a:r>
            <a:endParaRPr sz="2400" dirty="0"/>
          </a:p>
        </p:txBody>
      </p:sp>
      <p:sp>
        <p:nvSpPr>
          <p:cNvPr id="275" name="Google Shape;275;p1"/>
          <p:cNvSpPr txBox="1"/>
          <p:nvPr/>
        </p:nvSpPr>
        <p:spPr>
          <a:xfrm>
            <a:off x="3430723" y="3245770"/>
            <a:ext cx="2282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rPr>
              <a:t>Alumno : Antonella Valeria Castro Jimenez</a:t>
            </a:r>
            <a:endParaRPr/>
          </a:p>
        </p:txBody>
      </p:sp>
      <p:sp>
        <p:nvSpPr>
          <p:cNvPr id="276" name="Google Shape;276;p1"/>
          <p:cNvSpPr txBox="1"/>
          <p:nvPr/>
        </p:nvSpPr>
        <p:spPr>
          <a:xfrm>
            <a:off x="2966484" y="4133175"/>
            <a:ext cx="3210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"/>
          <p:cNvSpPr txBox="1"/>
          <p:nvPr/>
        </p:nvSpPr>
        <p:spPr>
          <a:xfrm>
            <a:off x="382772" y="4491664"/>
            <a:ext cx="1835759" cy="21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88" b="0" i="0" u="none" strike="noStrike" cap="none">
                <a:solidFill>
                  <a:srgbClr val="FF3A00"/>
                </a:solidFill>
                <a:latin typeface="Arial"/>
                <a:ea typeface="Arial"/>
                <a:cs typeface="Arial"/>
                <a:sym typeface="Arial"/>
              </a:rPr>
              <a:t>SEMINARIO DE INVESTIGACIÓN 1</a:t>
            </a:r>
            <a:endParaRPr sz="788" b="0" i="0" u="none" strike="noStrike" cap="none">
              <a:solidFill>
                <a:srgbClr val="FF3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"/>
          <p:cNvSpPr txBox="1"/>
          <p:nvPr/>
        </p:nvSpPr>
        <p:spPr>
          <a:xfrm>
            <a:off x="382771" y="4639286"/>
            <a:ext cx="498855" cy="21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88" b="0" i="0" u="none" strike="noStrike" cap="none">
                <a:solidFill>
                  <a:srgbClr val="FF3A00"/>
                </a:solidFill>
                <a:latin typeface="Arial"/>
                <a:ea typeface="Arial"/>
                <a:cs typeface="Arial"/>
                <a:sym typeface="Arial"/>
              </a:rPr>
              <a:t>2026-2</a:t>
            </a:r>
            <a:endParaRPr sz="788" b="0" i="0" u="none" strike="noStrike" cap="none">
              <a:solidFill>
                <a:srgbClr val="FF3A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"/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FACULTAD DE INGENIERÍA</a:t>
            </a:r>
            <a:endParaRPr sz="1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CARRERA DE INGENIERÍA DE SISTEMAS</a:t>
            </a:r>
            <a:endParaRPr sz="10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>
            <a:spLocks noGrp="1"/>
          </p:cNvSpPr>
          <p:nvPr>
            <p:ph type="title"/>
          </p:nvPr>
        </p:nvSpPr>
        <p:spPr>
          <a:xfrm>
            <a:off x="468875" y="668717"/>
            <a:ext cx="8099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dirty="0"/>
              <a:t>Metodología</a:t>
            </a:r>
            <a:endParaRPr dirty="0"/>
          </a:p>
        </p:txBody>
      </p:sp>
      <p:sp>
        <p:nvSpPr>
          <p:cNvPr id="294" name="Google Shape;294;p17"/>
          <p:cNvSpPr/>
          <p:nvPr/>
        </p:nvSpPr>
        <p:spPr>
          <a:xfrm>
            <a:off x="2992061" y="668734"/>
            <a:ext cx="33778" cy="28762"/>
          </a:xfrm>
          <a:custGeom>
            <a:avLst/>
            <a:gdLst/>
            <a:ahLst/>
            <a:cxnLst/>
            <a:rect l="l" t="t" r="r" b="b"/>
            <a:pathLst>
              <a:path w="404" h="344" extrusionOk="0">
                <a:moveTo>
                  <a:pt x="233" y="1"/>
                </a:moveTo>
                <a:cubicBezTo>
                  <a:pt x="196" y="1"/>
                  <a:pt x="157" y="15"/>
                  <a:pt x="124" y="48"/>
                </a:cubicBezTo>
                <a:cubicBezTo>
                  <a:pt x="1" y="147"/>
                  <a:pt x="75" y="332"/>
                  <a:pt x="235" y="344"/>
                </a:cubicBezTo>
                <a:cubicBezTo>
                  <a:pt x="321" y="344"/>
                  <a:pt x="395" y="270"/>
                  <a:pt x="395" y="184"/>
                </a:cubicBezTo>
                <a:cubicBezTo>
                  <a:pt x="404" y="80"/>
                  <a:pt x="321" y="1"/>
                  <a:pt x="23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585587" y="1272121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3F8E151-462A-B749-ADC6-56BC6573D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90" y="1272121"/>
            <a:ext cx="5925820" cy="34842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"/>
          <p:cNvSpPr txBox="1">
            <a:spLocks noGrp="1"/>
          </p:cNvSpPr>
          <p:nvPr>
            <p:ph type="ctrTitle"/>
          </p:nvPr>
        </p:nvSpPr>
        <p:spPr>
          <a:xfrm>
            <a:off x="5320636" y="739380"/>
            <a:ext cx="3245139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1800" dirty="0"/>
              <a:t>Diseño de la topología</a:t>
            </a:r>
            <a:endParaRPr sz="1800" dirty="0"/>
          </a:p>
        </p:txBody>
      </p:sp>
      <p:sp>
        <p:nvSpPr>
          <p:cNvPr id="363" name="Google Shape;363;p6"/>
          <p:cNvSpPr txBox="1">
            <a:spLocks noGrp="1"/>
          </p:cNvSpPr>
          <p:nvPr>
            <p:ph type="subTitle" idx="1"/>
          </p:nvPr>
        </p:nvSpPr>
        <p:spPr>
          <a:xfrm>
            <a:off x="5320636" y="2188149"/>
            <a:ext cx="3375600" cy="228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dirty="0"/>
              <a:t>Diseño de la topología basado en </a:t>
            </a:r>
            <a:endParaRPr dirty="0"/>
          </a:p>
        </p:txBody>
      </p:sp>
      <p:pic>
        <p:nvPicPr>
          <p:cNvPr id="364" name="Google Shape;36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Fondo topología"/>
          <p:cNvSpPr/>
          <p:nvPr/>
        </p:nvSpPr>
        <p:spPr>
          <a:xfrm>
            <a:off x="320040" y="411480"/>
            <a:ext cx="470916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6" name="Topología híbrida" descr="topologia_laboratorio_hibrida_b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527896"/>
            <a:ext cx="4526280" cy="2110568"/>
          </a:xfrm>
          <a:prstGeom prst="rect">
            <a:avLst/>
          </a:prstGeom>
        </p:spPr>
      </p:pic>
      <p:sp>
        <p:nvSpPr>
          <p:cNvPr id="367" name="Por qué"/>
          <p:cNvSpPr txBox="1"/>
          <p:nvPr/>
        </p:nvSpPr>
        <p:spPr>
          <a:xfrm>
            <a:off x="5321808" y="3246120"/>
            <a:ext cx="3154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dirty="0" err="1">
                <a:solidFill>
                  <a:srgbClr val="FFFFFF"/>
                </a:solidFill>
                <a:latin typeface="Verdana"/>
              </a:rPr>
              <a:t>Víctima</a:t>
            </a:r>
            <a:r>
              <a:rPr sz="900" dirty="0">
                <a:solidFill>
                  <a:srgbClr val="FFFFFF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atacante</a:t>
            </a:r>
            <a:r>
              <a:rPr sz="900" dirty="0">
                <a:solidFill>
                  <a:srgbClr val="FFFFFF"/>
                </a:solidFill>
                <a:latin typeface="Verdana"/>
              </a:rPr>
              <a:t> y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gestión</a:t>
            </a:r>
            <a:r>
              <a:rPr sz="900" dirty="0">
                <a:solidFill>
                  <a:srgbClr val="FFFFFF"/>
                </a:solidFill>
                <a:latin typeface="Verdana"/>
              </a:rPr>
              <a:t> van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en</a:t>
            </a:r>
            <a:r>
              <a:rPr sz="900" dirty="0">
                <a:solidFill>
                  <a:srgbClr val="FFFFFF"/>
                </a:solidFill>
                <a:latin typeface="Verdana"/>
              </a:rPr>
              <a:t> redes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separadas</a:t>
            </a:r>
            <a:r>
              <a:rPr sz="900" dirty="0">
                <a:solidFill>
                  <a:srgbClr val="FFFFFF"/>
                </a:solidFill>
                <a:latin typeface="Verdana"/>
              </a:rPr>
              <a:t> para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que</a:t>
            </a:r>
            <a:r>
              <a:rPr sz="900" dirty="0">
                <a:solidFill>
                  <a:srgbClr val="FFFFFF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cada</a:t>
            </a:r>
            <a:r>
              <a:rPr sz="900" dirty="0">
                <a:solidFill>
                  <a:srgbClr val="FFFFFF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fuente</a:t>
            </a:r>
            <a:r>
              <a:rPr sz="900" dirty="0">
                <a:solidFill>
                  <a:srgbClr val="FFFFFF"/>
                </a:solidFill>
                <a:latin typeface="Verdana"/>
              </a:rPr>
              <a:t> observe el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mismo</a:t>
            </a:r>
            <a:r>
              <a:rPr sz="900" dirty="0">
                <a:solidFill>
                  <a:srgbClr val="FFFFFF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ataque</a:t>
            </a:r>
            <a:r>
              <a:rPr sz="900" dirty="0">
                <a:solidFill>
                  <a:srgbClr val="FFFFFF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desde</a:t>
            </a:r>
            <a:r>
              <a:rPr sz="900" dirty="0">
                <a:solidFill>
                  <a:srgbClr val="FFFFFF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su</a:t>
            </a:r>
            <a:r>
              <a:rPr sz="900" dirty="0">
                <a:solidFill>
                  <a:srgbClr val="FFFFFF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propia</a:t>
            </a:r>
            <a:r>
              <a:rPr sz="900" dirty="0">
                <a:solidFill>
                  <a:srgbClr val="FFFFFF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posición</a:t>
            </a:r>
            <a:r>
              <a:rPr sz="900" dirty="0">
                <a:solidFill>
                  <a:srgbClr val="FFFFFF"/>
                </a:solidFill>
                <a:latin typeface="Verdana"/>
              </a:rPr>
              <a:t>,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como</a:t>
            </a:r>
            <a:r>
              <a:rPr sz="900" dirty="0">
                <a:solidFill>
                  <a:srgbClr val="FFFFFF"/>
                </a:solidFill>
                <a:latin typeface="Verdana"/>
              </a:rPr>
              <a:t> propone la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fusión</a:t>
            </a:r>
            <a:r>
              <a:rPr sz="900" dirty="0">
                <a:solidFill>
                  <a:srgbClr val="FFFFFF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FFFFFF"/>
                </a:solidFill>
                <a:latin typeface="Verdana"/>
              </a:rPr>
              <a:t>multisensor</a:t>
            </a:r>
            <a:r>
              <a:rPr sz="900" dirty="0">
                <a:solidFill>
                  <a:srgbClr val="FFFFFF"/>
                </a:solidFill>
                <a:latin typeface="Verdana"/>
              </a:rPr>
              <a:t> (Bass, 2000).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 txBox="1">
            <a:spLocks noGrp="1"/>
          </p:cNvSpPr>
          <p:nvPr>
            <p:ph type="title"/>
          </p:nvPr>
        </p:nvSpPr>
        <p:spPr>
          <a:xfrm>
            <a:off x="238548" y="408449"/>
            <a:ext cx="3699468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800" dirty="0"/>
              <a:t>ETAPA 1:</a:t>
            </a:r>
            <a:endParaRPr sz="1800" dirty="0"/>
          </a:p>
        </p:txBody>
      </p:sp>
      <p:sp>
        <p:nvSpPr>
          <p:cNvPr id="10" name="Google Shape;315;p13">
            <a:extLst>
              <a:ext uri="{FF2B5EF4-FFF2-40B4-BE49-F238E27FC236}">
                <a16:creationId xmlns:a16="http://schemas.microsoft.com/office/drawing/2014/main" id="{D8DE759C-1865-2B9A-AD85-539C9F90055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3864" y="1306649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dirty="0"/>
              <a:t>Despliegue y configuración de las herramientas</a:t>
            </a:r>
            <a:endParaRPr sz="1050" dirty="0"/>
          </a:p>
        </p:txBody>
      </p:sp>
      <p:sp>
        <p:nvSpPr>
          <p:cNvPr id="11" name="Google Shape;316;p13">
            <a:extLst>
              <a:ext uri="{FF2B5EF4-FFF2-40B4-BE49-F238E27FC236}">
                <a16:creationId xmlns:a16="http://schemas.microsoft.com/office/drawing/2014/main" id="{1B33FFD8-3CB0-C148-2700-72790DE6D53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43874" y="1642906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 dirty="0"/>
              <a:t>Se desplegaron y configuraron las herramientas de forma local</a:t>
            </a:r>
            <a:endParaRPr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E81254B-263C-26F1-D316-EA5EBBF4D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332" y="371110"/>
            <a:ext cx="3184002" cy="34657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A8F1C1F1-2877-0C78-2A6E-82B7BFF1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>
            <a:extLst>
              <a:ext uri="{FF2B5EF4-FFF2-40B4-BE49-F238E27FC236}">
                <a16:creationId xmlns:a16="http://schemas.microsoft.com/office/drawing/2014/main" id="{6BD78B64-4058-3BA8-23EA-95F086155D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5640" y="1833888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SIEM</a:t>
            </a:r>
            <a:endParaRPr sz="1050"/>
          </a:p>
        </p:txBody>
      </p:sp>
      <p:sp>
        <p:nvSpPr>
          <p:cNvPr id="316" name="Google Shape;316;p13">
            <a:extLst>
              <a:ext uri="{FF2B5EF4-FFF2-40B4-BE49-F238E27FC236}">
                <a16:creationId xmlns:a16="http://schemas.microsoft.com/office/drawing/2014/main" id="{5FF17E2B-7D2E-BF11-0038-216EBFE35CD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75650" y="2170145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Wazuh 4.14.7: colector central, normaliza y alerta</a:t>
            </a:r>
            <a:endParaRPr/>
          </a:p>
        </p:txBody>
      </p:sp>
      <p:sp>
        <p:nvSpPr>
          <p:cNvPr id="325" name="Google Shape;325;p13">
            <a:extLst>
              <a:ext uri="{FF2B5EF4-FFF2-40B4-BE49-F238E27FC236}">
                <a16:creationId xmlns:a16="http://schemas.microsoft.com/office/drawing/2014/main" id="{0A3E81E1-7225-9C54-FCB0-568AF775A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5800" y="710256"/>
            <a:ext cx="4632399" cy="55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000" dirty="0"/>
              <a:t>Plataformas de Recolección, Detección y Respuesta</a:t>
            </a:r>
            <a:endParaRPr sz="2000" dirty="0"/>
          </a:p>
        </p:txBody>
      </p:sp>
      <p:pic>
        <p:nvPicPr>
          <p:cNvPr id="326" name="Google Shape;326;p13">
            <a:extLst>
              <a:ext uri="{FF2B5EF4-FFF2-40B4-BE49-F238E27FC236}">
                <a16:creationId xmlns:a16="http://schemas.microsoft.com/office/drawing/2014/main" id="{258EBFE5-B316-0C37-8946-B372482F95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ítulo 6">
            <a:extLst>
              <a:ext uri="{FF2B5EF4-FFF2-40B4-BE49-F238E27FC236}">
                <a16:creationId xmlns:a16="http://schemas.microsoft.com/office/drawing/2014/main" id="{CD24A720-0E78-631C-D342-CB372559A16B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ubtítulo 8">
            <a:extLst>
              <a:ext uri="{FF2B5EF4-FFF2-40B4-BE49-F238E27FC236}">
                <a16:creationId xmlns:a16="http://schemas.microsoft.com/office/drawing/2014/main" id="{27C12283-43F6-E7B7-F1AB-164D592F7734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1" name="Subtítulo 10">
            <a:extLst>
              <a:ext uri="{FF2B5EF4-FFF2-40B4-BE49-F238E27FC236}">
                <a16:creationId xmlns:a16="http://schemas.microsoft.com/office/drawing/2014/main" id="{F771D4DF-C6BA-D8C3-FD34-B35B98127B0C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13" name="Subtítulo 12">
            <a:extLst>
              <a:ext uri="{FF2B5EF4-FFF2-40B4-BE49-F238E27FC236}">
                <a16:creationId xmlns:a16="http://schemas.microsoft.com/office/drawing/2014/main" id="{96479BBC-FEF3-BE28-E126-4B883A9C2C9D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B372C93-1DFE-5C66-B01C-E772C1593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873" y="1811826"/>
            <a:ext cx="4789485" cy="3129374"/>
          </a:xfrm>
          <a:prstGeom prst="rect">
            <a:avLst/>
          </a:prstGeom>
        </p:spPr>
      </p:pic>
      <p:sp>
        <p:nvSpPr>
          <p:cNvPr id="327" name="Por qué"/>
          <p:cNvSpPr txBox="1"/>
          <p:nvPr/>
        </p:nvSpPr>
        <p:spPr>
          <a:xfrm>
            <a:off x="576072" y="3246120"/>
            <a:ext cx="265176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dirty="0" err="1">
                <a:solidFill>
                  <a:srgbClr val="404040"/>
                </a:solidFill>
                <a:latin typeface="Verdana"/>
              </a:rPr>
              <a:t>Wazuh</a:t>
            </a:r>
            <a:r>
              <a:rPr sz="900" dirty="0">
                <a:solidFill>
                  <a:srgbClr val="404040"/>
                </a:solidFill>
                <a:latin typeface="Verdana"/>
              </a:rPr>
              <a:t> se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eligió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como</a:t>
            </a:r>
            <a:r>
              <a:rPr sz="900" dirty="0">
                <a:solidFill>
                  <a:srgbClr val="404040"/>
                </a:solidFill>
                <a:latin typeface="Verdana"/>
              </a:rPr>
              <a:t> SIEM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porque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centraliza</a:t>
            </a:r>
            <a:r>
              <a:rPr sz="900" dirty="0">
                <a:solidFill>
                  <a:srgbClr val="404040"/>
                </a:solidFill>
                <a:latin typeface="Verdana"/>
              </a:rPr>
              <a:t> y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normaliza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eventos</a:t>
            </a:r>
            <a:r>
              <a:rPr sz="900" dirty="0">
                <a:solidFill>
                  <a:srgbClr val="404040"/>
                </a:solidFill>
                <a:latin typeface="Verdana"/>
              </a:rPr>
              <a:t> de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fuentes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distintas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en</a:t>
            </a:r>
            <a:r>
              <a:rPr sz="900" dirty="0">
                <a:solidFill>
                  <a:srgbClr val="404040"/>
                </a:solidFill>
                <a:latin typeface="Verdana"/>
              </a:rPr>
              <a:t> un solo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lugar</a:t>
            </a:r>
            <a:r>
              <a:rPr sz="900" dirty="0">
                <a:solidFill>
                  <a:srgbClr val="404040"/>
                </a:solidFill>
                <a:latin typeface="Verdana"/>
              </a:rPr>
              <a:t>, y lo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hace</a:t>
            </a:r>
            <a:r>
              <a:rPr sz="900" dirty="0">
                <a:solidFill>
                  <a:srgbClr val="404040"/>
                </a:solidFill>
                <a:latin typeface="Verdana"/>
              </a:rPr>
              <a:t> con software libre (Manzoor et al., 2024; Winkler y Sharma, 2025).</a:t>
            </a:r>
          </a:p>
        </p:txBody>
      </p:sp>
    </p:spTree>
    <p:extLst>
      <p:ext uri="{BB962C8B-B14F-4D97-AF65-F5344CB8AC3E}">
        <p14:creationId xmlns:p14="http://schemas.microsoft.com/office/powerpoint/2010/main" val="1758331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9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dirty="0"/>
              <a:t>Verificación de compuertas</a:t>
            </a:r>
            <a:br>
              <a:rPr lang="es" dirty="0"/>
            </a:br>
            <a:endParaRPr dirty="0"/>
          </a:p>
        </p:txBody>
      </p:sp>
      <p:graphicFrame>
        <p:nvGraphicFramePr>
          <p:cNvPr id="549" name="Google Shape;549;p19"/>
          <p:cNvGraphicFramePr/>
          <p:nvPr>
            <p:extLst>
              <p:ext uri="{D42A27DB-BD31-4B8C-83A1-F6EECF244321}">
                <p14:modId xmlns:p14="http://schemas.microsoft.com/office/powerpoint/2010/main" val="1878759621"/>
              </p:ext>
            </p:extLst>
          </p:nvPr>
        </p:nvGraphicFramePr>
        <p:xfrm>
          <a:off x="1281303" y="1484025"/>
          <a:ext cx="6766560" cy="2962656"/>
        </p:xfrm>
        <a:graphic>
          <a:graphicData uri="http://schemas.openxmlformats.org/drawingml/2006/table">
            <a:tbl>
              <a:tblPr>
                <a:noFill/>
                <a:tableStyleId>{2C5BEFE7-33DA-43B2-85CF-B95843C8421B}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CRITERIO DE ACEPTACIÓN</a:t>
                      </a:r>
                      <a:endParaRPr sz="14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0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RESULTADO OBTENIDO</a:t>
                      </a:r>
                      <a:endParaRPr sz="14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V1 RELOJES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Desfase entre nodos &lt; 50 ms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1,4 ms: el mismo paquete visto en atacante y sensor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V2 AGENTES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Agentes del sensor y la víctima en Active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ids-suricata Active; win-victim Disconnected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8944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V3 INGESTA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Los 4 estímulos llegan en crudo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 / 4 en crudo; 2 disparan regla (60122, 554)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1368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V4 CRUDO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Crudo mayor que normalizado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2 832 vs. 207 eventos (factor 13,7)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44689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V5 CAMPOS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≥ 300 eventos de muestra por fuente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5/6 fuentes; syscheck 281; Suricata 96% stats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52535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V6 LATENCIA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Medir p95 por fuente (sin umbral)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p95 de 1,96 s en Suricata y 7,25 s en Sysmon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30624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V7 CORPUS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Corpus exportado, con hash y ≥ 2 fuentes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776 alertas de 3 agentes; SHA-256 OK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6604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V8 CONGELADO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Versiones registradas e instantáneas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Instantáneas en las 7 VM; falta versión de Sysmon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4864" marR="54864" marT="27432" marB="27432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1853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AEE670FE-D9A4-0DF6-734B-6E2BAC22F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>
            <a:extLst>
              <a:ext uri="{FF2B5EF4-FFF2-40B4-BE49-F238E27FC236}">
                <a16:creationId xmlns:a16="http://schemas.microsoft.com/office/drawing/2014/main" id="{75F8795F-2DDA-FE60-4125-01EB31A915D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16135" y="1838743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IDS</a:t>
            </a:r>
            <a:endParaRPr sz="1050"/>
          </a:p>
        </p:txBody>
      </p:sp>
      <p:sp>
        <p:nvSpPr>
          <p:cNvPr id="318" name="Google Shape;318;p13">
            <a:extLst>
              <a:ext uri="{FF2B5EF4-FFF2-40B4-BE49-F238E27FC236}">
                <a16:creationId xmlns:a16="http://schemas.microsoft.com/office/drawing/2014/main" id="{EC52658F-2B4B-081E-ED39-3D353B2CEDB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16137" y="2175000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/>
              <a:t>Suricata 7.0.17: sensor de red en promiscuo</a:t>
            </a:r>
            <a:endParaRPr/>
          </a:p>
        </p:txBody>
      </p:sp>
      <p:sp>
        <p:nvSpPr>
          <p:cNvPr id="325" name="Google Shape;325;p13">
            <a:extLst>
              <a:ext uri="{FF2B5EF4-FFF2-40B4-BE49-F238E27FC236}">
                <a16:creationId xmlns:a16="http://schemas.microsoft.com/office/drawing/2014/main" id="{3716ADA1-70E7-9E75-CC53-DD1D81736B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5800" y="710256"/>
            <a:ext cx="4632399" cy="55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000" dirty="0"/>
              <a:t>Integración para la detección de casos</a:t>
            </a:r>
            <a:endParaRPr sz="2000" dirty="0"/>
          </a:p>
        </p:txBody>
      </p:sp>
      <p:pic>
        <p:nvPicPr>
          <p:cNvPr id="326" name="Google Shape;326;p13">
            <a:extLst>
              <a:ext uri="{FF2B5EF4-FFF2-40B4-BE49-F238E27FC236}">
                <a16:creationId xmlns:a16="http://schemas.microsoft.com/office/drawing/2014/main" id="{F6216D3F-8B9F-538B-A43A-DA66A03E20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768B782B-4FC2-CA33-B7EF-C1C252DCC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560" y="1566960"/>
            <a:ext cx="5415837" cy="3180300"/>
          </a:xfrm>
          <a:prstGeom prst="rect">
            <a:avLst/>
          </a:prstGeom>
        </p:spPr>
      </p:pic>
      <p:sp>
        <p:nvSpPr>
          <p:cNvPr id="327" name="Por qué"/>
          <p:cNvSpPr txBox="1"/>
          <p:nvPr/>
        </p:nvSpPr>
        <p:spPr>
          <a:xfrm>
            <a:off x="285888" y="2840658"/>
            <a:ext cx="265176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>
                <a:solidFill>
                  <a:srgbClr val="404040"/>
                </a:solidFill>
                <a:latin typeface="Verdana"/>
              </a:rPr>
              <a:t>Suricata aporta la mirada de red que el agente del equipo no tiene. En un SOC real gran parte de sus alertas son intentos o disparos benignos, por eso conviene medirlas (Yang et al., 2024).</a:t>
            </a:r>
          </a:p>
        </p:txBody>
      </p:sp>
    </p:spTree>
    <p:extLst>
      <p:ext uri="{BB962C8B-B14F-4D97-AF65-F5344CB8AC3E}">
        <p14:creationId xmlns:p14="http://schemas.microsoft.com/office/powerpoint/2010/main" val="144185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6"/>
          <p:cNvSpPr txBox="1">
            <a:spLocks noGrp="1"/>
          </p:cNvSpPr>
          <p:nvPr>
            <p:ph type="title"/>
          </p:nvPr>
        </p:nvSpPr>
        <p:spPr>
          <a:xfrm>
            <a:off x="798800" y="1583075"/>
            <a:ext cx="342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Entorno en AWS Academy</a:t>
            </a:r>
            <a:endParaRPr/>
          </a:p>
        </p:txBody>
      </p:sp>
      <p:grpSp>
        <p:nvGrpSpPr>
          <p:cNvPr id="686" name="Google Shape;686;p26"/>
          <p:cNvGrpSpPr/>
          <p:nvPr/>
        </p:nvGrpSpPr>
        <p:grpSpPr>
          <a:xfrm>
            <a:off x="4359791" y="1335956"/>
            <a:ext cx="4317507" cy="3283923"/>
            <a:chOff x="761990" y="1565538"/>
            <a:chExt cx="3582102" cy="2724569"/>
          </a:xfrm>
        </p:grpSpPr>
        <p:pic>
          <p:nvPicPr>
            <p:cNvPr id="687" name="Google Shape;687;p26"/>
            <p:cNvPicPr preferRelativeResize="0"/>
            <p:nvPr/>
          </p:nvPicPr>
          <p:blipFill rotWithShape="1">
            <a:blip r:embed="rId3">
              <a:alphaModFix/>
            </a:blip>
            <a:srcRect b="21179"/>
            <a:stretch/>
          </p:blipFill>
          <p:spPr>
            <a:xfrm>
              <a:off x="869200" y="1674824"/>
              <a:ext cx="3372802" cy="20712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8" name="Google Shape;688;p26"/>
            <p:cNvGrpSpPr/>
            <p:nvPr/>
          </p:nvGrpSpPr>
          <p:grpSpPr>
            <a:xfrm>
              <a:off x="761990" y="1565538"/>
              <a:ext cx="3582102" cy="2724569"/>
              <a:chOff x="3422350" y="731675"/>
              <a:chExt cx="4831537" cy="3674898"/>
            </a:xfrm>
          </p:grpSpPr>
          <p:sp>
            <p:nvSpPr>
              <p:cNvPr id="689" name="Google Shape;689;p26"/>
              <p:cNvSpPr/>
              <p:nvPr/>
            </p:nvSpPr>
            <p:spPr>
              <a:xfrm>
                <a:off x="5352325" y="4031650"/>
                <a:ext cx="958800" cy="255300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6"/>
              <p:cNvSpPr/>
              <p:nvPr/>
            </p:nvSpPr>
            <p:spPr>
              <a:xfrm flipH="1">
                <a:off x="6230475" y="3891500"/>
                <a:ext cx="399775" cy="489077"/>
              </a:xfrm>
              <a:custGeom>
                <a:avLst/>
                <a:gdLst/>
                <a:ahLst/>
                <a:cxnLst/>
                <a:rect l="l" t="t" r="r" b="b"/>
                <a:pathLst>
                  <a:path w="15991" h="18395" extrusionOk="0">
                    <a:moveTo>
                      <a:pt x="1325" y="15800"/>
                    </a:moveTo>
                    <a:cubicBezTo>
                      <a:pt x="2082" y="15098"/>
                      <a:pt x="4341" y="13522"/>
                      <a:pt x="5354" y="12612"/>
                    </a:cubicBezTo>
                    <a:cubicBezTo>
                      <a:pt x="6368" y="11702"/>
                      <a:pt x="6856" y="11031"/>
                      <a:pt x="7406" y="10341"/>
                    </a:cubicBezTo>
                    <a:cubicBezTo>
                      <a:pt x="7956" y="9651"/>
                      <a:pt x="8176" y="9340"/>
                      <a:pt x="8652" y="8473"/>
                    </a:cubicBezTo>
                    <a:cubicBezTo>
                      <a:pt x="9128" y="7606"/>
                      <a:pt x="9849" y="6220"/>
                      <a:pt x="10264" y="5139"/>
                    </a:cubicBezTo>
                    <a:cubicBezTo>
                      <a:pt x="10679" y="4058"/>
                      <a:pt x="10948" y="2702"/>
                      <a:pt x="11143" y="1988"/>
                    </a:cubicBezTo>
                    <a:cubicBezTo>
                      <a:pt x="11338" y="1274"/>
                      <a:pt x="11241" y="1067"/>
                      <a:pt x="11436" y="853"/>
                    </a:cubicBezTo>
                    <a:cubicBezTo>
                      <a:pt x="11631" y="639"/>
                      <a:pt x="11558" y="-845"/>
                      <a:pt x="12315" y="706"/>
                    </a:cubicBezTo>
                    <a:cubicBezTo>
                      <a:pt x="13072" y="2257"/>
                      <a:pt x="16162" y="7838"/>
                      <a:pt x="15979" y="10158"/>
                    </a:cubicBezTo>
                    <a:cubicBezTo>
                      <a:pt x="15796" y="12478"/>
                      <a:pt x="13756" y="13577"/>
                      <a:pt x="11216" y="14627"/>
                    </a:cubicBezTo>
                    <a:cubicBezTo>
                      <a:pt x="8676" y="15677"/>
                      <a:pt x="2461" y="15836"/>
                      <a:pt x="739" y="16459"/>
                    </a:cubicBezTo>
                    <a:cubicBezTo>
                      <a:pt x="-983" y="17082"/>
                      <a:pt x="873" y="18303"/>
                      <a:pt x="885" y="18364"/>
                    </a:cubicBezTo>
                    <a:cubicBezTo>
                      <a:pt x="897" y="18425"/>
                      <a:pt x="739" y="17252"/>
                      <a:pt x="812" y="16825"/>
                    </a:cubicBezTo>
                    <a:cubicBezTo>
                      <a:pt x="885" y="16398"/>
                      <a:pt x="568" y="16502"/>
                      <a:pt x="1325" y="15800"/>
                    </a:cubicBez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26"/>
              <p:cNvSpPr/>
              <p:nvPr/>
            </p:nvSpPr>
            <p:spPr>
              <a:xfrm>
                <a:off x="5043518" y="3915067"/>
                <a:ext cx="399775" cy="459875"/>
              </a:xfrm>
              <a:custGeom>
                <a:avLst/>
                <a:gdLst/>
                <a:ahLst/>
                <a:cxnLst/>
                <a:rect l="l" t="t" r="r" b="b"/>
                <a:pathLst>
                  <a:path w="15991" h="18395" extrusionOk="0">
                    <a:moveTo>
                      <a:pt x="1325" y="15800"/>
                    </a:moveTo>
                    <a:cubicBezTo>
                      <a:pt x="2082" y="15098"/>
                      <a:pt x="4341" y="13522"/>
                      <a:pt x="5354" y="12612"/>
                    </a:cubicBezTo>
                    <a:cubicBezTo>
                      <a:pt x="6368" y="11702"/>
                      <a:pt x="6856" y="11031"/>
                      <a:pt x="7406" y="10341"/>
                    </a:cubicBezTo>
                    <a:cubicBezTo>
                      <a:pt x="7956" y="9651"/>
                      <a:pt x="8176" y="9340"/>
                      <a:pt x="8652" y="8473"/>
                    </a:cubicBezTo>
                    <a:cubicBezTo>
                      <a:pt x="9128" y="7606"/>
                      <a:pt x="9849" y="6220"/>
                      <a:pt x="10264" y="5139"/>
                    </a:cubicBezTo>
                    <a:cubicBezTo>
                      <a:pt x="10679" y="4058"/>
                      <a:pt x="10948" y="2702"/>
                      <a:pt x="11143" y="1988"/>
                    </a:cubicBezTo>
                    <a:cubicBezTo>
                      <a:pt x="11338" y="1274"/>
                      <a:pt x="11241" y="1067"/>
                      <a:pt x="11436" y="853"/>
                    </a:cubicBezTo>
                    <a:cubicBezTo>
                      <a:pt x="11631" y="639"/>
                      <a:pt x="11558" y="-845"/>
                      <a:pt x="12315" y="706"/>
                    </a:cubicBezTo>
                    <a:cubicBezTo>
                      <a:pt x="13072" y="2257"/>
                      <a:pt x="16162" y="7838"/>
                      <a:pt x="15979" y="10158"/>
                    </a:cubicBezTo>
                    <a:cubicBezTo>
                      <a:pt x="15796" y="12478"/>
                      <a:pt x="13756" y="13577"/>
                      <a:pt x="11216" y="14627"/>
                    </a:cubicBezTo>
                    <a:cubicBezTo>
                      <a:pt x="8676" y="15677"/>
                      <a:pt x="2461" y="15836"/>
                      <a:pt x="739" y="16459"/>
                    </a:cubicBezTo>
                    <a:cubicBezTo>
                      <a:pt x="-983" y="17082"/>
                      <a:pt x="873" y="18303"/>
                      <a:pt x="885" y="18364"/>
                    </a:cubicBezTo>
                    <a:cubicBezTo>
                      <a:pt x="897" y="18425"/>
                      <a:pt x="739" y="17252"/>
                      <a:pt x="812" y="16825"/>
                    </a:cubicBezTo>
                    <a:cubicBezTo>
                      <a:pt x="885" y="16398"/>
                      <a:pt x="568" y="16502"/>
                      <a:pt x="1325" y="15800"/>
                    </a:cubicBez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26"/>
              <p:cNvSpPr/>
              <p:nvPr/>
            </p:nvSpPr>
            <p:spPr>
              <a:xfrm>
                <a:off x="5183975" y="3763900"/>
                <a:ext cx="87000" cy="25200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26"/>
              <p:cNvSpPr/>
              <p:nvPr/>
            </p:nvSpPr>
            <p:spPr>
              <a:xfrm>
                <a:off x="5348300" y="3810000"/>
                <a:ext cx="981000" cy="185400"/>
              </a:xfrm>
              <a:prstGeom prst="rect">
                <a:avLst/>
              </a:prstGeom>
              <a:solidFill>
                <a:srgbClr val="A0A0A0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26"/>
              <p:cNvSpPr/>
              <p:nvPr/>
            </p:nvSpPr>
            <p:spPr>
              <a:xfrm>
                <a:off x="5258919" y="4129800"/>
                <a:ext cx="29" cy="2369"/>
              </a:xfrm>
              <a:custGeom>
                <a:avLst/>
                <a:gdLst/>
                <a:ahLst/>
                <a:cxnLst/>
                <a:rect l="l" t="t" r="r" b="b"/>
                <a:pathLst>
                  <a:path w="1" h="82" extrusionOk="0">
                    <a:moveTo>
                      <a:pt x="1" y="8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A5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26"/>
              <p:cNvSpPr/>
              <p:nvPr/>
            </p:nvSpPr>
            <p:spPr>
              <a:xfrm>
                <a:off x="5223962" y="4174089"/>
                <a:ext cx="2369" cy="7020"/>
              </a:xfrm>
              <a:custGeom>
                <a:avLst/>
                <a:gdLst/>
                <a:ahLst/>
                <a:cxnLst/>
                <a:rect l="l" t="t" r="r" b="b"/>
                <a:pathLst>
                  <a:path w="82" h="243" extrusionOk="0">
                    <a:moveTo>
                      <a:pt x="1" y="243"/>
                    </a:moveTo>
                    <a:lnTo>
                      <a:pt x="81" y="1"/>
                    </a:lnTo>
                    <a:close/>
                  </a:path>
                </a:pathLst>
              </a:custGeom>
              <a:solidFill>
                <a:srgbClr val="A5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26"/>
              <p:cNvSpPr/>
              <p:nvPr/>
            </p:nvSpPr>
            <p:spPr>
              <a:xfrm>
                <a:off x="6447569" y="4174089"/>
                <a:ext cx="4709" cy="468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62" extrusionOk="0">
                    <a:moveTo>
                      <a:pt x="1" y="1"/>
                    </a:moveTo>
                    <a:lnTo>
                      <a:pt x="162" y="162"/>
                    </a:lnTo>
                    <a:close/>
                  </a:path>
                </a:pathLst>
              </a:custGeom>
              <a:solidFill>
                <a:srgbClr val="A5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26"/>
              <p:cNvSpPr/>
              <p:nvPr/>
            </p:nvSpPr>
            <p:spPr>
              <a:xfrm>
                <a:off x="6417292" y="4132140"/>
                <a:ext cx="29" cy="2369"/>
              </a:xfrm>
              <a:custGeom>
                <a:avLst/>
                <a:gdLst/>
                <a:ahLst/>
                <a:cxnLst/>
                <a:rect l="l" t="t" r="r" b="b"/>
                <a:pathLst>
                  <a:path w="1" h="82" extrusionOk="0">
                    <a:moveTo>
                      <a:pt x="0" y="0"/>
                    </a:move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A5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6"/>
              <p:cNvSpPr/>
              <p:nvPr/>
            </p:nvSpPr>
            <p:spPr>
              <a:xfrm>
                <a:off x="5028174" y="4248712"/>
                <a:ext cx="1619862" cy="97879"/>
              </a:xfrm>
              <a:custGeom>
                <a:avLst/>
                <a:gdLst/>
                <a:ahLst/>
                <a:cxnLst/>
                <a:rect l="l" t="t" r="r" b="b"/>
                <a:pathLst>
                  <a:path w="56070" h="3388" extrusionOk="0">
                    <a:moveTo>
                      <a:pt x="4435" y="1"/>
                    </a:moveTo>
                    <a:lnTo>
                      <a:pt x="4196" y="160"/>
                    </a:lnTo>
                    <a:lnTo>
                      <a:pt x="4200" y="160"/>
                    </a:lnTo>
                    <a:cubicBezTo>
                      <a:pt x="4279" y="105"/>
                      <a:pt x="4357" y="53"/>
                      <a:pt x="4435" y="1"/>
                    </a:cubicBezTo>
                    <a:close/>
                    <a:moveTo>
                      <a:pt x="51636" y="1"/>
                    </a:moveTo>
                    <a:cubicBezTo>
                      <a:pt x="51714" y="53"/>
                      <a:pt x="51792" y="105"/>
                      <a:pt x="51868" y="160"/>
                    </a:cubicBezTo>
                    <a:lnTo>
                      <a:pt x="51875" y="160"/>
                    </a:lnTo>
                    <a:lnTo>
                      <a:pt x="51636" y="1"/>
                    </a:lnTo>
                    <a:close/>
                    <a:moveTo>
                      <a:pt x="4200" y="160"/>
                    </a:moveTo>
                    <a:cubicBezTo>
                      <a:pt x="4037" y="275"/>
                      <a:pt x="3875" y="401"/>
                      <a:pt x="3712" y="564"/>
                    </a:cubicBezTo>
                    <a:lnTo>
                      <a:pt x="82" y="3226"/>
                    </a:lnTo>
                    <a:cubicBezTo>
                      <a:pt x="82" y="3307"/>
                      <a:pt x="1" y="3307"/>
                      <a:pt x="1" y="3387"/>
                    </a:cubicBezTo>
                    <a:lnTo>
                      <a:pt x="56070" y="3387"/>
                    </a:lnTo>
                    <a:lnTo>
                      <a:pt x="55909" y="3226"/>
                    </a:lnTo>
                    <a:lnTo>
                      <a:pt x="52278" y="564"/>
                    </a:lnTo>
                    <a:cubicBezTo>
                      <a:pt x="52170" y="401"/>
                      <a:pt x="52025" y="275"/>
                      <a:pt x="51868" y="160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6"/>
              <p:cNvSpPr/>
              <p:nvPr/>
            </p:nvSpPr>
            <p:spPr>
              <a:xfrm>
                <a:off x="5282233" y="3789534"/>
                <a:ext cx="1109434" cy="300687"/>
              </a:xfrm>
              <a:custGeom>
                <a:avLst/>
                <a:gdLst/>
                <a:ahLst/>
                <a:cxnLst/>
                <a:rect l="l" t="t" r="r" b="b"/>
                <a:pathLst>
                  <a:path w="38402" h="10408" extrusionOk="0">
                    <a:moveTo>
                      <a:pt x="2017" y="0"/>
                    </a:moveTo>
                    <a:lnTo>
                      <a:pt x="1291" y="6616"/>
                    </a:lnTo>
                    <a:cubicBezTo>
                      <a:pt x="1049" y="7906"/>
                      <a:pt x="565" y="9197"/>
                      <a:pt x="0" y="10407"/>
                    </a:cubicBezTo>
                    <a:lnTo>
                      <a:pt x="81" y="10246"/>
                    </a:lnTo>
                    <a:lnTo>
                      <a:pt x="38327" y="10246"/>
                    </a:lnTo>
                    <a:cubicBezTo>
                      <a:pt x="37794" y="9083"/>
                      <a:pt x="37342" y="7849"/>
                      <a:pt x="37111" y="6616"/>
                    </a:cubicBezTo>
                    <a:lnTo>
                      <a:pt x="36465" y="565"/>
                    </a:lnTo>
                    <a:cubicBezTo>
                      <a:pt x="32270" y="3066"/>
                      <a:pt x="27591" y="4679"/>
                      <a:pt x="22670" y="5244"/>
                    </a:cubicBezTo>
                    <a:cubicBezTo>
                      <a:pt x="21500" y="5345"/>
                      <a:pt x="20331" y="5395"/>
                      <a:pt x="19163" y="5395"/>
                    </a:cubicBezTo>
                    <a:cubicBezTo>
                      <a:pt x="15661" y="5395"/>
                      <a:pt x="12182" y="4942"/>
                      <a:pt x="8794" y="4034"/>
                    </a:cubicBezTo>
                    <a:cubicBezTo>
                      <a:pt x="6777" y="3631"/>
                      <a:pt x="4841" y="2905"/>
                      <a:pt x="2985" y="1936"/>
                    </a:cubicBezTo>
                    <a:cubicBezTo>
                      <a:pt x="2824" y="1856"/>
                      <a:pt x="2743" y="1694"/>
                      <a:pt x="2582" y="1533"/>
                    </a:cubicBezTo>
                    <a:cubicBezTo>
                      <a:pt x="2421" y="1372"/>
                      <a:pt x="2098" y="1049"/>
                      <a:pt x="1937" y="807"/>
                    </a:cubicBezTo>
                    <a:lnTo>
                      <a:pt x="2017" y="0"/>
                    </a:lnTo>
                    <a:close/>
                    <a:moveTo>
                      <a:pt x="38327" y="10246"/>
                    </a:moveTo>
                    <a:cubicBezTo>
                      <a:pt x="38352" y="10300"/>
                      <a:pt x="38377" y="10354"/>
                      <a:pt x="38402" y="10407"/>
                    </a:cubicBezTo>
                    <a:cubicBezTo>
                      <a:pt x="38402" y="10327"/>
                      <a:pt x="38402" y="10246"/>
                      <a:pt x="38402" y="10246"/>
                    </a:cubicBez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26"/>
              <p:cNvSpPr/>
              <p:nvPr/>
            </p:nvSpPr>
            <p:spPr>
              <a:xfrm>
                <a:off x="6482526" y="4213697"/>
                <a:ext cx="93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324" h="324" extrusionOk="0">
                    <a:moveTo>
                      <a:pt x="324" y="324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A5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6"/>
              <p:cNvSpPr/>
              <p:nvPr/>
            </p:nvSpPr>
            <p:spPr>
              <a:xfrm>
                <a:off x="5184353" y="4213697"/>
                <a:ext cx="9331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24" extrusionOk="0">
                    <a:moveTo>
                      <a:pt x="323" y="1"/>
                    </a:moveTo>
                    <a:lnTo>
                      <a:pt x="0" y="324"/>
                    </a:lnTo>
                    <a:close/>
                  </a:path>
                </a:pathLst>
              </a:custGeom>
              <a:solidFill>
                <a:srgbClr val="A5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26"/>
              <p:cNvSpPr/>
              <p:nvPr/>
            </p:nvSpPr>
            <p:spPr>
              <a:xfrm>
                <a:off x="5151708" y="4085512"/>
                <a:ext cx="1377475" cy="167851"/>
              </a:xfrm>
              <a:custGeom>
                <a:avLst/>
                <a:gdLst/>
                <a:ahLst/>
                <a:cxnLst/>
                <a:rect l="l" t="t" r="r" b="b"/>
                <a:pathLst>
                  <a:path w="47680" h="5810" extrusionOk="0">
                    <a:moveTo>
                      <a:pt x="4599" y="1"/>
                    </a:moveTo>
                    <a:lnTo>
                      <a:pt x="4518" y="162"/>
                    </a:lnTo>
                    <a:cubicBezTo>
                      <a:pt x="4276" y="646"/>
                      <a:pt x="3954" y="1130"/>
                      <a:pt x="3712" y="1614"/>
                    </a:cubicBezTo>
                    <a:cubicBezTo>
                      <a:pt x="3389" y="2179"/>
                      <a:pt x="2986" y="2663"/>
                      <a:pt x="2663" y="3067"/>
                    </a:cubicBezTo>
                    <a:lnTo>
                      <a:pt x="2502" y="3309"/>
                    </a:lnTo>
                    <a:cubicBezTo>
                      <a:pt x="2260" y="3631"/>
                      <a:pt x="1856" y="4035"/>
                      <a:pt x="1533" y="4438"/>
                    </a:cubicBezTo>
                    <a:lnTo>
                      <a:pt x="1211" y="4761"/>
                    </a:lnTo>
                    <a:cubicBezTo>
                      <a:pt x="888" y="5003"/>
                      <a:pt x="565" y="5325"/>
                      <a:pt x="162" y="5648"/>
                    </a:cubicBezTo>
                    <a:lnTo>
                      <a:pt x="1" y="5809"/>
                    </a:lnTo>
                    <a:lnTo>
                      <a:pt x="47679" y="5809"/>
                    </a:lnTo>
                    <a:lnTo>
                      <a:pt x="47437" y="5648"/>
                    </a:lnTo>
                    <a:cubicBezTo>
                      <a:pt x="47115" y="5325"/>
                      <a:pt x="46711" y="5003"/>
                      <a:pt x="46389" y="4761"/>
                    </a:cubicBezTo>
                    <a:lnTo>
                      <a:pt x="46066" y="4438"/>
                    </a:lnTo>
                    <a:cubicBezTo>
                      <a:pt x="45743" y="4035"/>
                      <a:pt x="45421" y="3631"/>
                      <a:pt x="45098" y="3228"/>
                    </a:cubicBezTo>
                    <a:lnTo>
                      <a:pt x="44937" y="3067"/>
                    </a:lnTo>
                    <a:cubicBezTo>
                      <a:pt x="44533" y="2663"/>
                      <a:pt x="44210" y="2098"/>
                      <a:pt x="43888" y="1614"/>
                    </a:cubicBezTo>
                    <a:cubicBezTo>
                      <a:pt x="43646" y="1130"/>
                      <a:pt x="43404" y="646"/>
                      <a:pt x="43081" y="162"/>
                    </a:cubicBezTo>
                    <a:cubicBezTo>
                      <a:pt x="43081" y="162"/>
                      <a:pt x="43081" y="82"/>
                      <a:pt x="43081" y="1"/>
                    </a:cubicBez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26"/>
              <p:cNvSpPr/>
              <p:nvPr/>
            </p:nvSpPr>
            <p:spPr>
              <a:xfrm>
                <a:off x="5016531" y="4343477"/>
                <a:ext cx="1645401" cy="63096"/>
              </a:xfrm>
              <a:custGeom>
                <a:avLst/>
                <a:gdLst/>
                <a:ahLst/>
                <a:cxnLst/>
                <a:rect l="l" t="t" r="r" b="b"/>
                <a:pathLst>
                  <a:path w="56954" h="2184" extrusionOk="0">
                    <a:moveTo>
                      <a:pt x="404" y="0"/>
                    </a:moveTo>
                    <a:cubicBezTo>
                      <a:pt x="162" y="161"/>
                      <a:pt x="81" y="323"/>
                      <a:pt x="1" y="565"/>
                    </a:cubicBezTo>
                    <a:cubicBezTo>
                      <a:pt x="1" y="645"/>
                      <a:pt x="1" y="726"/>
                      <a:pt x="1" y="887"/>
                    </a:cubicBezTo>
                    <a:cubicBezTo>
                      <a:pt x="81" y="1614"/>
                      <a:pt x="727" y="2178"/>
                      <a:pt x="1533" y="2178"/>
                    </a:cubicBezTo>
                    <a:lnTo>
                      <a:pt x="55424" y="2178"/>
                    </a:lnTo>
                    <a:cubicBezTo>
                      <a:pt x="55465" y="2182"/>
                      <a:pt x="55506" y="2184"/>
                      <a:pt x="55546" y="2184"/>
                    </a:cubicBezTo>
                    <a:cubicBezTo>
                      <a:pt x="56370" y="2184"/>
                      <a:pt x="56953" y="1411"/>
                      <a:pt x="56876" y="565"/>
                    </a:cubicBezTo>
                    <a:cubicBezTo>
                      <a:pt x="56796" y="323"/>
                      <a:pt x="56634" y="161"/>
                      <a:pt x="56473" y="0"/>
                    </a:cubicBezTo>
                    <a:close/>
                  </a:path>
                </a:pathLst>
              </a:custGeom>
              <a:solidFill>
                <a:srgbClr val="8182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26"/>
              <p:cNvSpPr/>
              <p:nvPr/>
            </p:nvSpPr>
            <p:spPr>
              <a:xfrm>
                <a:off x="5230953" y="785292"/>
                <a:ext cx="3022934" cy="3160162"/>
              </a:xfrm>
              <a:custGeom>
                <a:avLst/>
                <a:gdLst/>
                <a:ahLst/>
                <a:cxnLst/>
                <a:rect l="l" t="t" r="r" b="b"/>
                <a:pathLst>
                  <a:path w="104636" h="109386" extrusionOk="0">
                    <a:moveTo>
                      <a:pt x="103990" y="0"/>
                    </a:moveTo>
                    <a:lnTo>
                      <a:pt x="103264" y="726"/>
                    </a:lnTo>
                    <a:cubicBezTo>
                      <a:pt x="103506" y="1130"/>
                      <a:pt x="103668" y="1694"/>
                      <a:pt x="103668" y="2178"/>
                    </a:cubicBezTo>
                    <a:lnTo>
                      <a:pt x="103668" y="100036"/>
                    </a:lnTo>
                    <a:cubicBezTo>
                      <a:pt x="103668" y="101730"/>
                      <a:pt x="102296" y="103102"/>
                      <a:pt x="100602" y="103102"/>
                    </a:cubicBezTo>
                    <a:lnTo>
                      <a:pt x="969" y="103102"/>
                    </a:lnTo>
                    <a:lnTo>
                      <a:pt x="1" y="103989"/>
                    </a:lnTo>
                    <a:lnTo>
                      <a:pt x="3792" y="103989"/>
                    </a:lnTo>
                    <a:lnTo>
                      <a:pt x="3712" y="104796"/>
                    </a:lnTo>
                    <a:cubicBezTo>
                      <a:pt x="3873" y="105038"/>
                      <a:pt x="4115" y="105280"/>
                      <a:pt x="4357" y="105522"/>
                    </a:cubicBezTo>
                    <a:lnTo>
                      <a:pt x="4760" y="106006"/>
                    </a:lnTo>
                    <a:cubicBezTo>
                      <a:pt x="6616" y="106894"/>
                      <a:pt x="8552" y="107620"/>
                      <a:pt x="10569" y="108104"/>
                    </a:cubicBezTo>
                    <a:cubicBezTo>
                      <a:pt x="13943" y="108947"/>
                      <a:pt x="17407" y="109386"/>
                      <a:pt x="20893" y="109386"/>
                    </a:cubicBezTo>
                    <a:cubicBezTo>
                      <a:pt x="22076" y="109386"/>
                      <a:pt x="23260" y="109335"/>
                      <a:pt x="24445" y="109233"/>
                    </a:cubicBezTo>
                    <a:cubicBezTo>
                      <a:pt x="29366" y="108668"/>
                      <a:pt x="34045" y="107136"/>
                      <a:pt x="38321" y="104635"/>
                    </a:cubicBezTo>
                    <a:lnTo>
                      <a:pt x="38240" y="103989"/>
                    </a:lnTo>
                    <a:lnTo>
                      <a:pt x="100602" y="103989"/>
                    </a:lnTo>
                    <a:cubicBezTo>
                      <a:pt x="102780" y="103989"/>
                      <a:pt x="104636" y="102214"/>
                      <a:pt x="104636" y="99956"/>
                    </a:cubicBezTo>
                    <a:lnTo>
                      <a:pt x="104636" y="2178"/>
                    </a:lnTo>
                    <a:cubicBezTo>
                      <a:pt x="104636" y="1372"/>
                      <a:pt x="104394" y="646"/>
                      <a:pt x="10399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A0A0A0"/>
                  </a:gs>
                  <a:gs pos="12000">
                    <a:srgbClr val="919192"/>
                  </a:gs>
                  <a:gs pos="100000">
                    <a:srgbClr val="818284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26"/>
              <p:cNvSpPr/>
              <p:nvPr/>
            </p:nvSpPr>
            <p:spPr>
              <a:xfrm>
                <a:off x="5258919" y="803926"/>
                <a:ext cx="2967003" cy="2959983"/>
              </a:xfrm>
              <a:custGeom>
                <a:avLst/>
                <a:gdLst/>
                <a:ahLst/>
                <a:cxnLst/>
                <a:rect l="l" t="t" r="r" b="b"/>
                <a:pathLst>
                  <a:path w="102700" h="102457" extrusionOk="0">
                    <a:moveTo>
                      <a:pt x="102377" y="1"/>
                    </a:moveTo>
                    <a:lnTo>
                      <a:pt x="98101" y="4276"/>
                    </a:lnTo>
                    <a:lnTo>
                      <a:pt x="98101" y="97858"/>
                    </a:lnTo>
                    <a:lnTo>
                      <a:pt x="4519" y="97858"/>
                    </a:lnTo>
                    <a:lnTo>
                      <a:pt x="1" y="102457"/>
                    </a:lnTo>
                    <a:lnTo>
                      <a:pt x="99634" y="102457"/>
                    </a:lnTo>
                    <a:cubicBezTo>
                      <a:pt x="101328" y="102457"/>
                      <a:pt x="102700" y="101005"/>
                      <a:pt x="102700" y="99311"/>
                    </a:cubicBezTo>
                    <a:lnTo>
                      <a:pt x="102700" y="1533"/>
                    </a:lnTo>
                    <a:cubicBezTo>
                      <a:pt x="102700" y="969"/>
                      <a:pt x="102619" y="485"/>
                      <a:pt x="10237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26"/>
              <p:cNvSpPr/>
              <p:nvPr/>
            </p:nvSpPr>
            <p:spPr>
              <a:xfrm>
                <a:off x="3422350" y="731675"/>
                <a:ext cx="4812901" cy="3057819"/>
              </a:xfrm>
              <a:custGeom>
                <a:avLst/>
                <a:gdLst/>
                <a:ahLst/>
                <a:cxnLst/>
                <a:rect l="l" t="t" r="r" b="b"/>
                <a:pathLst>
                  <a:path w="166594" h="105926" extrusionOk="0">
                    <a:moveTo>
                      <a:pt x="4034" y="1"/>
                    </a:moveTo>
                    <a:cubicBezTo>
                      <a:pt x="1775" y="1"/>
                      <a:pt x="0" y="1856"/>
                      <a:pt x="0" y="4034"/>
                    </a:cubicBezTo>
                    <a:lnTo>
                      <a:pt x="0" y="101892"/>
                    </a:lnTo>
                    <a:cubicBezTo>
                      <a:pt x="0" y="104070"/>
                      <a:pt x="1775" y="105926"/>
                      <a:pt x="4034" y="105926"/>
                    </a:cubicBezTo>
                    <a:lnTo>
                      <a:pt x="62604" y="105926"/>
                    </a:lnTo>
                    <a:lnTo>
                      <a:pt x="63491" y="105039"/>
                    </a:lnTo>
                    <a:lnTo>
                      <a:pt x="4034" y="104958"/>
                    </a:lnTo>
                    <a:cubicBezTo>
                      <a:pt x="2340" y="104958"/>
                      <a:pt x="968" y="103506"/>
                      <a:pt x="968" y="101812"/>
                    </a:cubicBezTo>
                    <a:lnTo>
                      <a:pt x="968" y="4034"/>
                    </a:lnTo>
                    <a:cubicBezTo>
                      <a:pt x="968" y="2340"/>
                      <a:pt x="2340" y="969"/>
                      <a:pt x="4034" y="969"/>
                    </a:cubicBezTo>
                    <a:lnTo>
                      <a:pt x="163205" y="969"/>
                    </a:lnTo>
                    <a:cubicBezTo>
                      <a:pt x="164334" y="969"/>
                      <a:pt x="165383" y="1534"/>
                      <a:pt x="165867" y="2582"/>
                    </a:cubicBezTo>
                    <a:lnTo>
                      <a:pt x="166593" y="1856"/>
                    </a:lnTo>
                    <a:cubicBezTo>
                      <a:pt x="165787" y="727"/>
                      <a:pt x="164577" y="1"/>
                      <a:pt x="163205" y="1"/>
                    </a:cubicBezTo>
                    <a:close/>
                  </a:path>
                </a:pathLst>
              </a:custGeom>
              <a:solidFill>
                <a:srgbClr val="A5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26"/>
              <p:cNvSpPr/>
              <p:nvPr/>
            </p:nvSpPr>
            <p:spPr>
              <a:xfrm>
                <a:off x="8071400" y="760800"/>
                <a:ext cx="153000" cy="1530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26"/>
              <p:cNvSpPr/>
              <p:nvPr/>
            </p:nvSpPr>
            <p:spPr>
              <a:xfrm>
                <a:off x="3447978" y="759551"/>
                <a:ext cx="4766301" cy="3004358"/>
              </a:xfrm>
              <a:custGeom>
                <a:avLst/>
                <a:gdLst/>
                <a:ahLst/>
                <a:cxnLst/>
                <a:rect l="l" t="t" r="r" b="b"/>
                <a:pathLst>
                  <a:path w="164981" h="103993" extrusionOk="0">
                    <a:moveTo>
                      <a:pt x="82691" y="1273"/>
                    </a:moveTo>
                    <a:cubicBezTo>
                      <a:pt x="83178" y="1273"/>
                      <a:pt x="83660" y="1635"/>
                      <a:pt x="83660" y="2182"/>
                    </a:cubicBezTo>
                    <a:cubicBezTo>
                      <a:pt x="83660" y="2666"/>
                      <a:pt x="83257" y="3150"/>
                      <a:pt x="82692" y="3150"/>
                    </a:cubicBezTo>
                    <a:cubicBezTo>
                      <a:pt x="81885" y="3069"/>
                      <a:pt x="81482" y="2101"/>
                      <a:pt x="82047" y="1537"/>
                    </a:cubicBezTo>
                    <a:cubicBezTo>
                      <a:pt x="82228" y="1355"/>
                      <a:pt x="82460" y="1273"/>
                      <a:pt x="82691" y="1273"/>
                    </a:cubicBezTo>
                    <a:close/>
                    <a:moveTo>
                      <a:pt x="3012" y="1"/>
                    </a:moveTo>
                    <a:cubicBezTo>
                      <a:pt x="1376" y="1"/>
                      <a:pt x="0" y="1420"/>
                      <a:pt x="0" y="3069"/>
                    </a:cubicBezTo>
                    <a:lnTo>
                      <a:pt x="0" y="100927"/>
                    </a:lnTo>
                    <a:cubicBezTo>
                      <a:pt x="81" y="102621"/>
                      <a:pt x="1453" y="103993"/>
                      <a:pt x="3147" y="103993"/>
                    </a:cubicBezTo>
                    <a:lnTo>
                      <a:pt x="62685" y="103993"/>
                    </a:lnTo>
                    <a:lnTo>
                      <a:pt x="67203" y="99394"/>
                    </a:lnTo>
                    <a:lnTo>
                      <a:pt x="4599" y="99394"/>
                    </a:lnTo>
                    <a:lnTo>
                      <a:pt x="4599" y="4602"/>
                    </a:lnTo>
                    <a:lnTo>
                      <a:pt x="160785" y="4602"/>
                    </a:lnTo>
                    <a:lnTo>
                      <a:pt x="160785" y="5812"/>
                    </a:lnTo>
                    <a:lnTo>
                      <a:pt x="164980" y="1617"/>
                    </a:lnTo>
                    <a:cubicBezTo>
                      <a:pt x="164496" y="649"/>
                      <a:pt x="163447" y="4"/>
                      <a:pt x="162318" y="4"/>
                    </a:cubicBezTo>
                    <a:lnTo>
                      <a:pt x="3147" y="4"/>
                    </a:lnTo>
                    <a:cubicBezTo>
                      <a:pt x="3102" y="2"/>
                      <a:pt x="3057" y="1"/>
                      <a:pt x="3012" y="1"/>
                    </a:cubicBez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26"/>
              <p:cNvSpPr/>
              <p:nvPr/>
            </p:nvSpPr>
            <p:spPr>
              <a:xfrm>
                <a:off x="5801964" y="796934"/>
                <a:ext cx="62980" cy="51915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1797" extrusionOk="0">
                    <a:moveTo>
                      <a:pt x="1256" y="171"/>
                    </a:moveTo>
                    <a:cubicBezTo>
                      <a:pt x="1614" y="171"/>
                      <a:pt x="1937" y="458"/>
                      <a:pt x="1937" y="888"/>
                    </a:cubicBezTo>
                    <a:cubicBezTo>
                      <a:pt x="1937" y="1291"/>
                      <a:pt x="1614" y="1614"/>
                      <a:pt x="1211" y="1614"/>
                    </a:cubicBezTo>
                    <a:cubicBezTo>
                      <a:pt x="566" y="1614"/>
                      <a:pt x="324" y="807"/>
                      <a:pt x="727" y="404"/>
                    </a:cubicBezTo>
                    <a:cubicBezTo>
                      <a:pt x="888" y="243"/>
                      <a:pt x="1077" y="171"/>
                      <a:pt x="1256" y="171"/>
                    </a:cubicBezTo>
                    <a:close/>
                    <a:moveTo>
                      <a:pt x="1211" y="1"/>
                    </a:moveTo>
                    <a:cubicBezTo>
                      <a:pt x="404" y="1"/>
                      <a:pt x="1" y="969"/>
                      <a:pt x="566" y="1533"/>
                    </a:cubicBezTo>
                    <a:cubicBezTo>
                      <a:pt x="747" y="1715"/>
                      <a:pt x="979" y="1797"/>
                      <a:pt x="1210" y="1797"/>
                    </a:cubicBezTo>
                    <a:cubicBezTo>
                      <a:pt x="1697" y="1797"/>
                      <a:pt x="2179" y="1435"/>
                      <a:pt x="2179" y="888"/>
                    </a:cubicBezTo>
                    <a:cubicBezTo>
                      <a:pt x="2179" y="404"/>
                      <a:pt x="1776" y="1"/>
                      <a:pt x="12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26"/>
              <p:cNvSpPr/>
              <p:nvPr/>
            </p:nvSpPr>
            <p:spPr>
              <a:xfrm>
                <a:off x="5818287" y="801615"/>
                <a:ext cx="39666" cy="41977"/>
              </a:xfrm>
              <a:custGeom>
                <a:avLst/>
                <a:gdLst/>
                <a:ahLst/>
                <a:cxnLst/>
                <a:rect l="l" t="t" r="r" b="b"/>
                <a:pathLst>
                  <a:path w="1373" h="1453" extrusionOk="0">
                    <a:moveTo>
                      <a:pt x="646" y="0"/>
                    </a:moveTo>
                    <a:cubicBezTo>
                      <a:pt x="243" y="0"/>
                      <a:pt x="1" y="323"/>
                      <a:pt x="1" y="726"/>
                    </a:cubicBezTo>
                    <a:cubicBezTo>
                      <a:pt x="1" y="1129"/>
                      <a:pt x="243" y="1452"/>
                      <a:pt x="646" y="1452"/>
                    </a:cubicBezTo>
                    <a:cubicBezTo>
                      <a:pt x="1049" y="1452"/>
                      <a:pt x="1372" y="1129"/>
                      <a:pt x="1372" y="726"/>
                    </a:cubicBezTo>
                    <a:cubicBezTo>
                      <a:pt x="1372" y="323"/>
                      <a:pt x="1049" y="0"/>
                      <a:pt x="646" y="0"/>
                    </a:cubicBezTo>
                    <a:close/>
                  </a:path>
                </a:pathLst>
              </a:custGeom>
              <a:solidFill>
                <a:srgbClr val="2020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26"/>
              <p:cNvSpPr/>
              <p:nvPr/>
            </p:nvSpPr>
            <p:spPr>
              <a:xfrm>
                <a:off x="5338300" y="3789525"/>
                <a:ext cx="1000500" cy="185400"/>
              </a:xfrm>
              <a:prstGeom prst="rect">
                <a:avLst/>
              </a:prstGeom>
              <a:gradFill>
                <a:gsLst>
                  <a:gs pos="0">
                    <a:srgbClr val="A0A0A0"/>
                  </a:gs>
                  <a:gs pos="36000">
                    <a:srgbClr val="919192"/>
                  </a:gs>
                  <a:gs pos="100000">
                    <a:srgbClr val="818284"/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12" name="Google Shape;712;p26"/>
          <p:cNvSpPr txBox="1">
            <a:spLocks noGrp="1"/>
          </p:cNvSpPr>
          <p:nvPr>
            <p:ph type="subTitle" idx="1"/>
          </p:nvPr>
        </p:nvSpPr>
        <p:spPr>
          <a:xfrm>
            <a:off x="798800" y="2248125"/>
            <a:ext cx="31395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 sz="1050" dirty="0"/>
              <a:t>The Hive y Shuffle en AWS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 sz="1050" dirty="0"/>
              <a:t>IAAS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sz="1050" dirty="0"/>
          </a:p>
        </p:txBody>
      </p:sp>
      <p:sp>
        <p:nvSpPr>
          <p:cNvPr id="713" name="Google Shape;713;p26"/>
          <p:cNvSpPr/>
          <p:nvPr/>
        </p:nvSpPr>
        <p:spPr>
          <a:xfrm>
            <a:off x="927825" y="2111789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095AFB-DCE5-CDEE-5A97-55B9822E20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298" r="47243" b="296"/>
          <a:stretch>
            <a:fillRect/>
          </a:stretch>
        </p:blipFill>
        <p:spPr>
          <a:xfrm>
            <a:off x="4489011" y="1496724"/>
            <a:ext cx="4023855" cy="2457701"/>
          </a:xfrm>
          <a:prstGeom prst="rect">
            <a:avLst/>
          </a:prstGeom>
        </p:spPr>
      </p:pic>
      <p:sp>
        <p:nvSpPr>
          <p:cNvPr id="714" name="Por qué"/>
          <p:cNvSpPr txBox="1"/>
          <p:nvPr/>
        </p:nvSpPr>
        <p:spPr>
          <a:xfrm>
            <a:off x="838860" y="2831399"/>
            <a:ext cx="1866900" cy="96949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dirty="0" err="1">
                <a:solidFill>
                  <a:srgbClr val="404040"/>
                </a:solidFill>
                <a:latin typeface="Verdana"/>
              </a:rPr>
              <a:t>TheHive</a:t>
            </a:r>
            <a:r>
              <a:rPr sz="900" dirty="0">
                <a:solidFill>
                  <a:srgbClr val="404040"/>
                </a:solidFill>
                <a:latin typeface="Verdana"/>
              </a:rPr>
              <a:t> y Shuffle se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llevaron</a:t>
            </a:r>
            <a:r>
              <a:rPr sz="900" dirty="0">
                <a:solidFill>
                  <a:srgbClr val="404040"/>
                </a:solidFill>
                <a:latin typeface="Verdana"/>
              </a:rPr>
              <a:t> a AWS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porque</a:t>
            </a:r>
            <a:r>
              <a:rPr sz="900" dirty="0">
                <a:solidFill>
                  <a:srgbClr val="404040"/>
                </a:solidFill>
                <a:latin typeface="Verdana"/>
              </a:rPr>
              <a:t> la laptop no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los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sostenía</a:t>
            </a:r>
            <a:r>
              <a:rPr sz="900" dirty="0">
                <a:solidFill>
                  <a:srgbClr val="404040"/>
                </a:solidFill>
                <a:latin typeface="Verdana"/>
              </a:rPr>
              <a:t> junto al resto, y se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usaron</a:t>
            </a:r>
            <a:r>
              <a:rPr sz="900" dirty="0">
                <a:solidFill>
                  <a:srgbClr val="404040"/>
                </a:solidFill>
                <a:latin typeface="Verdana"/>
              </a:rPr>
              <a:t> las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mismas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imágenes</a:t>
            </a:r>
            <a:r>
              <a:rPr sz="900" dirty="0">
                <a:solidFill>
                  <a:srgbClr val="404040"/>
                </a:solidFill>
                <a:latin typeface="Verdana"/>
              </a:rPr>
              <a:t> para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que</a:t>
            </a:r>
            <a:r>
              <a:rPr sz="900" dirty="0">
                <a:solidFill>
                  <a:srgbClr val="404040"/>
                </a:solidFill>
                <a:latin typeface="Verdana"/>
              </a:rPr>
              <a:t> el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resultado</a:t>
            </a:r>
            <a:r>
              <a:rPr sz="900" dirty="0">
                <a:solidFill>
                  <a:srgbClr val="404040"/>
                </a:solidFill>
                <a:latin typeface="Verdana"/>
              </a:rPr>
              <a:t> se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pueda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repetir</a:t>
            </a:r>
            <a:r>
              <a:rPr sz="900" dirty="0">
                <a:solidFill>
                  <a:srgbClr val="404040"/>
                </a:solidFill>
                <a:latin typeface="Verdana"/>
              </a:rPr>
              <a:t> (Amazon Web Services, s. f.).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"/>
          <p:cNvSpPr txBox="1">
            <a:spLocks noGrp="1"/>
          </p:cNvSpPr>
          <p:nvPr>
            <p:ph type="title" idx="2"/>
          </p:nvPr>
        </p:nvSpPr>
        <p:spPr>
          <a:xfrm>
            <a:off x="5010425" y="427975"/>
            <a:ext cx="3247310" cy="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Flujo F1 en Shuffle</a:t>
            </a:r>
            <a:endParaRPr/>
          </a:p>
        </p:txBody>
      </p:sp>
      <p:sp>
        <p:nvSpPr>
          <p:cNvPr id="403" name="Google Shape;403;p9"/>
          <p:cNvSpPr txBox="1">
            <a:spLocks noGrp="1"/>
          </p:cNvSpPr>
          <p:nvPr>
            <p:ph type="subTitle" idx="1"/>
          </p:nvPr>
        </p:nvSpPr>
        <p:spPr>
          <a:xfrm>
            <a:off x="5010425" y="1422175"/>
            <a:ext cx="3722400" cy="13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 sz="1200" dirty="0"/>
              <a:t>Webhook → alerta → caso. El nodo «alerta» aplica la tabla de severidad y crea la alerta en TheHive con el tag lab.source.</a:t>
            </a:r>
            <a:endParaRPr sz="1200" dirty="0"/>
          </a:p>
        </p:txBody>
      </p:sp>
      <p:pic>
        <p:nvPicPr>
          <p:cNvPr id="405" name="Google Shape;40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9"/>
          <p:cNvSpPr/>
          <p:nvPr/>
        </p:nvSpPr>
        <p:spPr>
          <a:xfrm>
            <a:off x="5118946" y="1197776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D075A1-0320-F062-DAA8-7D3AAF63B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74" y="909884"/>
            <a:ext cx="4252265" cy="2991555"/>
          </a:xfrm>
          <a:prstGeom prst="rect">
            <a:avLst/>
          </a:prstGeom>
        </p:spPr>
      </p:pic>
      <p:sp>
        <p:nvSpPr>
          <p:cNvPr id="407" name="Por qué"/>
          <p:cNvSpPr txBox="1"/>
          <p:nvPr/>
        </p:nvSpPr>
        <p:spPr>
          <a:xfrm>
            <a:off x="5118946" y="2398177"/>
            <a:ext cx="3114675" cy="55399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900" dirty="0">
                <a:solidFill>
                  <a:srgbClr val="404040"/>
                </a:solidFill>
                <a:latin typeface="Verdana"/>
              </a:rPr>
              <a:t>Un SOAR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conecta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herramientas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que</a:t>
            </a:r>
            <a:r>
              <a:rPr sz="900" dirty="0">
                <a:solidFill>
                  <a:srgbClr val="404040"/>
                </a:solidFill>
                <a:latin typeface="Verdana"/>
              </a:rPr>
              <a:t> no se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hablan</a:t>
            </a:r>
            <a:r>
              <a:rPr sz="900" dirty="0">
                <a:solidFill>
                  <a:srgbClr val="404040"/>
                </a:solidFill>
                <a:latin typeface="Verdana"/>
              </a:rPr>
              <a:t> entre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sí</a:t>
            </a:r>
            <a:r>
              <a:rPr sz="900" dirty="0">
                <a:solidFill>
                  <a:srgbClr val="404040"/>
                </a:solidFill>
                <a:latin typeface="Verdana"/>
              </a:rPr>
              <a:t>.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Probarlo</a:t>
            </a:r>
            <a:r>
              <a:rPr sz="900" dirty="0">
                <a:solidFill>
                  <a:srgbClr val="404040"/>
                </a:solidFill>
                <a:latin typeface="Verdana"/>
              </a:rPr>
              <a:t> con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alertas</a:t>
            </a:r>
            <a:r>
              <a:rPr sz="900" dirty="0">
                <a:solidFill>
                  <a:srgbClr val="404040"/>
                </a:solidFill>
                <a:latin typeface="Verdana"/>
              </a:rPr>
              <a:t> reales es lo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que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muestra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si</a:t>
            </a:r>
            <a:r>
              <a:rPr sz="900" dirty="0">
                <a:solidFill>
                  <a:srgbClr val="404040"/>
                </a:solidFill>
                <a:latin typeface="Verdana"/>
              </a:rPr>
              <a:t> la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automatización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funciona</a:t>
            </a:r>
            <a:r>
              <a:rPr sz="900" dirty="0">
                <a:solidFill>
                  <a:srgbClr val="404040"/>
                </a:solidFill>
                <a:latin typeface="Verdana"/>
              </a:rPr>
              <a:t>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en</a:t>
            </a:r>
            <a:r>
              <a:rPr sz="900" dirty="0">
                <a:solidFill>
                  <a:srgbClr val="404040"/>
                </a:solidFill>
                <a:latin typeface="Verdana"/>
              </a:rPr>
              <a:t> la </a:t>
            </a:r>
            <a:r>
              <a:rPr sz="900" dirty="0" err="1">
                <a:solidFill>
                  <a:srgbClr val="404040"/>
                </a:solidFill>
                <a:latin typeface="Verdana"/>
              </a:rPr>
              <a:t>práctica</a:t>
            </a:r>
            <a:r>
              <a:rPr sz="900" dirty="0">
                <a:solidFill>
                  <a:srgbClr val="404040"/>
                </a:solidFill>
                <a:latin typeface="Verdana"/>
              </a:rPr>
              <a:t> (Bridges et al., 2023).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9"/>
          <p:cNvSpPr txBox="1">
            <a:spLocks noGrp="1"/>
          </p:cNvSpPr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Mismas versiones en local y en AWS</a:t>
            </a:r>
            <a:endParaRPr/>
          </a:p>
        </p:txBody>
      </p:sp>
      <p:graphicFrame>
        <p:nvGraphicFramePr>
          <p:cNvPr id="549" name="Google Shape;549;p19"/>
          <p:cNvGraphicFramePr/>
          <p:nvPr/>
        </p:nvGraphicFramePr>
        <p:xfrm>
          <a:off x="570500" y="1983925"/>
          <a:ext cx="8003000" cy="1539210"/>
        </p:xfrm>
        <a:graphic>
          <a:graphicData uri="http://schemas.openxmlformats.org/drawingml/2006/table">
            <a:tbl>
              <a:tblPr>
                <a:noFill/>
                <a:tableStyleId>{2C5BEFE7-33DA-43B2-85CF-B95843C8421B}</a:tableStyleId>
              </a:tblPr>
              <a:tblGrid>
                <a:gridCol w="200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LOCAL</a:t>
                      </a:r>
                      <a:endParaRPr sz="14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AWS</a:t>
                      </a:r>
                      <a:endParaRPr sz="14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DIGEST</a:t>
                      </a:r>
                      <a:endParaRPr sz="14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THEHIVE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4.1.24-1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4.1.24-1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Idéntico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CASSANDRA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3.11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3.11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Idéntico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b="1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SHUFFLE</a:t>
                      </a:r>
                      <a:endParaRPr sz="1200" b="1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3A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28d5cff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28d5cff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200" u="none" strike="noStrike" cap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 / 5 iguales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567</Words>
  <Application>Microsoft Office PowerPoint</Application>
  <PresentationFormat>Presentación en pantalla (16:9)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Verdana</vt:lpstr>
      <vt:lpstr>Proxima Nova Semibold</vt:lpstr>
      <vt:lpstr>Abril Fatface</vt:lpstr>
      <vt:lpstr>Arvo</vt:lpstr>
      <vt:lpstr>Arial</vt:lpstr>
      <vt:lpstr>Proxima Nova</vt:lpstr>
      <vt:lpstr>Nunito</vt:lpstr>
      <vt:lpstr>Business slide</vt:lpstr>
      <vt:lpstr>1_Business slide</vt:lpstr>
      <vt:lpstr>SlidesGo Final Pages</vt:lpstr>
      <vt:lpstr>INTEGRACIÓN DE HERRAMIENTAS ABIERTAS Y PROPIETARIAS PARA LA IMPLEMENTACIÓN DE LA CAPACIDAD DE DETECCIÓN Y RESPUESTA </vt:lpstr>
      <vt:lpstr>Metodología</vt:lpstr>
      <vt:lpstr>Diseño de la topología</vt:lpstr>
      <vt:lpstr>ETAPA 1:</vt:lpstr>
      <vt:lpstr>Plataformas de Recolección, Detección y Respuesta</vt:lpstr>
      <vt:lpstr>Verificación de compuertas </vt:lpstr>
      <vt:lpstr>Integración para la detección de casos</vt:lpstr>
      <vt:lpstr>Entorno en AWS Academy</vt:lpstr>
      <vt:lpstr>Flujo F1 en Shuffle</vt:lpstr>
      <vt:lpstr>Mismas versiones en local y en AWS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Aburto Herrera Beatrice</dc:creator>
  <cp:lastModifiedBy>antonella castro</cp:lastModifiedBy>
  <cp:revision>6</cp:revision>
  <dcterms:modified xsi:type="dcterms:W3CDTF">2026-10-17T00:13:54Z</dcterms:modified>
</cp:coreProperties>
</file>